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22" Type="http://schemas.openxmlformats.org/officeDocument/2006/relationships/tableStyles" Target="tableStyles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3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padding: 60, background: '#0F172A', justifyContent: 'center' }}&gt;&#10;  &lt;Text style={{ fontSize: 16, color: '#818CF8', letterSpacing: 4, fontWeight: 'bold', marginBottom: 20 }}&gt;&#10;    2026 深圳国际金融科技大赛 · 人工智能赛道&#10;  &lt;/Text&gt;&#10;  &lt;Text style={{ fontSize: 72, fontWeight: 'bold', color: '#F1F5F9', lineHeight: 1.12 }}&gt;&#10;    AgentBank · 智能体银行&#10;  &lt;/Text&gt;&#10;  &lt;Box style={{ width: 130, height: 4, background: '#6366F1', borderRadius: 2, margin: '26px 0 24px' }} /&gt;&#10;  &lt;Text style={{ fontSize: 30, color: '#CBD5E1' }}&gt;让智能体可以安全地替你办事&lt;/Text&gt;&#10;  &lt;Box style={{ flexDirection: 'row', justifyContent: 'space-between', alignItems: 'flex-end', marginTop: 70 }}&gt;&#10;    &lt;Text style={{ fontSize: 18, color: '#94A3B8' }}&gt;参赛队伍 / 成员 / 2026-11-02&lt;/Text&gt;&#10;    &lt;Box style={{ background: '#1E293B', border: '1px solid #334155', borderRadius: 10, padding: '14px 22px' }}&gt;&#10;      &lt;Text style={{ fontSize: 16, color: '#A5B4FC' }}&gt;零第三方依赖 · 250 条回归用例 · 37 项赛题核查全绿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17907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818CF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 b="1" spc="300">
                <a:solidFill>
                  <a:srgbClr val="818CF8"/>
                </a:solidFill>
                <a:latin typeface="Microsoft YaHei"/>
                <a:ea typeface="Microsoft YaHei"/>
              </a:rPr>
              <a:t>深圳国际金融科技大赛</a:t>
            </a:r>
            <a:r>
              <a:rPr lang="en-US" sz="1200" b="1" spc="300">
                <a:solidFill>
                  <a:srgbClr val="818C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300">
                <a:solidFill>
                  <a:srgbClr val="818CF8"/>
                </a:solidFill>
                <a:latin typeface="Microsoft YaHei"/>
                <a:ea typeface="Microsoft YaHei"/>
              </a:rPr>
              <a:t>人工智能赛道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11049000" cy="9239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5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5400" b="1">
                <a:solidFill>
                  <a:srgbClr val="F1F5F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571500" y="3343275"/>
            <a:ext cx="1238250" cy="38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3609975"/>
            <a:ext cx="1104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CBD5E1"/>
                </a:solidFill>
                <a:latin typeface="Microsoft YaHei"/>
                <a:ea typeface="Microsoft YaHei"/>
              </a:rPr>
              <a:t>让智能体可以安全地替你办事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486727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参赛队伍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成员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2026-11-02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58100" y="4619625"/>
            <a:ext cx="3962400" cy="457200"/>
          </a:xfrm>
          <a:prstGeom prst="roundRect">
            <a:avLst>
              <a:gd name="adj" fmla="val 208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67650" y="4752975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5B4FC"/>
                </a:solidFill>
                <a:latin typeface="Microsoft YaHei"/>
                <a:ea typeface="Microsoft YaHei"/>
              </a:rPr>
              <a:t>零第三方依赖</a:t>
            </a:r>
            <a:r>
              <a:rPr lang="en-US" sz="1200">
                <a:solidFill>
                  <a:srgbClr val="A5B4FC"/>
                </a:solidFill>
                <a:latin typeface="Microsoft YaHei"/>
                <a:ea typeface="Microsoft YaHei"/>
              </a:rPr>
              <a:t xml:space="preserve"> · 250 </a:t>
            </a:r>
            <a:r>
              <a:rPr lang="zh-CN" sz="1200">
                <a:solidFill>
                  <a:srgbClr val="A5B4FC"/>
                </a:solidFill>
                <a:latin typeface="Microsoft YaHei"/>
                <a:ea typeface="Microsoft YaHei"/>
              </a:rPr>
              <a:t>条回归用例</a:t>
            </a:r>
            <a:r>
              <a:rPr lang="en-US" sz="1200">
                <a:solidFill>
                  <a:srgbClr val="A5B4FC"/>
                </a:solidFill>
                <a:latin typeface="Microsoft YaHei"/>
                <a:ea typeface="Microsoft YaHei"/>
              </a:rPr>
              <a:t xml:space="preserve"> · 37 </a:t>
            </a:r>
            <a:r>
              <a:rPr lang="zh-CN" sz="1200">
                <a:solidFill>
                  <a:srgbClr val="A5B4FC"/>
                </a:solidFill>
                <a:latin typeface="Microsoft YaHei"/>
                <a:ea typeface="Microsoft YaHei"/>
              </a:rPr>
              <a:t>项赛题核查全绿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5" name="" descr="&lt;Slide style={{ padding: 60, background: '#0F172A' }}&gt;&#10;  &lt;Box style={{ flexDirection: 'row', alignItems: 'center', gap: 12, marginBottom: 22 }}&gt;&#10;    &lt;Box style={{ width: 6, height: 26, background: '#6366F1', borderRadius: 3 }} /&gt;&#10;    &lt;Text style={{ fontSize: 15, color: '#818CF8', letterSpacing: 3, fontWeight: 'bold' }}&gt;全场锚点 · THE ANCHOR&lt;/Text&gt;&#10;  &lt;/Box&gt;&#10;  &lt;Text style={{ fontSize: 50, fontWeight: 'bold', color: '#F1F5F9', lineHeight: 1.3, marginBottom: 44 }}&gt;&#10;    智能体永远只是「申请人」，&lt;br/&gt;永远不是「执行人」。&#10;  &lt;/Text&gt;&#10;  &lt;Box style={{ flexDirection: 'row', alignItems: 'center', gap: 16, marginBottom: 40 }}&gt;&#10;    {['能理解', '能规划', '能组合工具'].map((t, i) =&gt; (&#10;      &lt;Box key={i} style={{ flexDirection: 'row', alignItems: 'center', gap: 16 }}&gt;&#10;        &lt;Box style={{ background: '#1E293B', border: '1px solid #334155', borderRadius: 10, padding: '14px 24px' }}&gt;&#10;          &lt;Text style={{ fontSize: 22, color: '#E2E8F0' }}&gt;{t}&lt;/Text&gt;&#10;        &lt;/Box&gt;&#10;        {i &lt; 2 &amp;&amp; &lt;FAIcon name='arrow-right' style={{ fill: '#6366F1', width: 26, height: 26 }} /&gt;}&#10;      &lt;/Box&gt;&#10;    ))}&#10;  &lt;/Box&gt;&#10;  &lt;Box style={{ background: '#1E293B', borderLeft: '4px solid #6366F1', borderRadius: 8, padding: '20px 26px' }}&gt;&#10;    &lt;Text style={{ fontSize: 22, color: '#CBD5E1' }}&gt;&#10;      但每一个写操作，都必须回到用户本人的 &lt;Text style={{ color: '#A5B4FC', fontWeight: 'bold' }}&gt;两道凭证&lt;/Text&gt;。&#10;    &lt;/Text&gt;&#10;  &lt;/Box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571500" y="571500"/>
            <a:ext cx="57150" cy="2476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42950" y="609600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818CF8"/>
                </a:solidFill>
                <a:latin typeface="Microsoft YaHei"/>
                <a:ea typeface="Microsoft YaHei"/>
              </a:rPr>
              <a:t>全场锚点</a:t>
            </a:r>
            <a:r>
              <a:rPr lang="en-US" sz="1125" b="1" spc="225">
                <a:solidFill>
                  <a:srgbClr val="818CF8"/>
                </a:solidFill>
                <a:latin typeface="Microsoft YaHei"/>
                <a:ea typeface="Microsoft YaHei"/>
              </a:rPr>
              <a:t xml:space="preserve"> · THE ANCHOR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71500" y="1028700"/>
            <a:ext cx="11049000" cy="1485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750" b="1">
                <a:solidFill>
                  <a:srgbClr val="F1F5F9"/>
                </a:solidFill>
                <a:latin typeface="Microsoft YaHei"/>
                <a:ea typeface="Microsoft YaHei"/>
              </a:rPr>
              <a:t>智能体永远只是「申请人」，</a:t>
            </a:r>
            <a:endParaRPr/>
          </a:p>
          <a:p>
            <a:pPr>
              <a:lnSpc>
                <a:spcPct val="130000"/>
              </a:lnSpc>
            </a:pPr>
            <a:r>
              <a:rPr lang="zh-CN" sz="3750" b="1">
                <a:solidFill>
                  <a:srgbClr val="F1F5F9"/>
                </a:solidFill>
                <a:latin typeface="Microsoft YaHei"/>
                <a:ea typeface="Microsoft YaHei"/>
              </a:rPr>
              <a:t>永远不是「执行人」。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571500" y="2933700"/>
            <a:ext cx="1085850" cy="523875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0100" y="306705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2E8F0"/>
                </a:solidFill>
                <a:latin typeface="Microsoft YaHei"/>
                <a:ea typeface="Microsoft YaHei"/>
              </a:rPr>
              <a:t>能理解</a:t>
            </a:r>
            <a:endParaRPr/>
          </a:p>
        </p:txBody>
      </p:sp>
      <p:pic>
        <p:nvPicPr>
          <p:cNvPr id="2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09750" y="3076575"/>
            <a:ext cx="247650" cy="247650"/>
          </a:xfrm>
          <a:prstGeom prst="rect">
            <a:avLst/>
          </a:prstGeom>
          <a:ln/>
        </p:spPr>
      </p:pic>
      <p:sp>
        <p:nvSpPr>
          <p:cNvPr id="273" name=""/>
          <p:cNvSpPr/>
          <p:nvPr/>
        </p:nvSpPr>
        <p:spPr>
          <a:xfrm rot="0" flipH="0" flipV="0">
            <a:off x="2209800" y="2933700"/>
            <a:ext cx="1085850" cy="523875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438400" y="306705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2E8F0"/>
                </a:solidFill>
                <a:latin typeface="Microsoft YaHei"/>
                <a:ea typeface="Microsoft YaHei"/>
              </a:rPr>
              <a:t>能规划</a:t>
            </a:r>
            <a:endParaRPr/>
          </a:p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448050" y="3076575"/>
            <a:ext cx="247650" cy="247650"/>
          </a:xfrm>
          <a:prstGeom prst="rect">
            <a:avLst/>
          </a:prstGeom>
          <a:ln/>
        </p:spPr>
      </p:pic>
      <p:sp>
        <p:nvSpPr>
          <p:cNvPr id="276" name=""/>
          <p:cNvSpPr/>
          <p:nvPr/>
        </p:nvSpPr>
        <p:spPr>
          <a:xfrm rot="0" flipH="0" flipV="0">
            <a:off x="3848100" y="2933700"/>
            <a:ext cx="1504950" cy="523875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076700" y="306705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2E8F0"/>
                </a:solidFill>
                <a:latin typeface="Microsoft YaHei"/>
                <a:ea typeface="Microsoft YaHei"/>
              </a:rPr>
              <a:t>能组合工具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3838575"/>
            <a:ext cx="11049000" cy="638175"/>
          </a:xfrm>
          <a:prstGeom prst="roundRect">
            <a:avLst>
              <a:gd name="adj" fmla="val 1194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09600" y="3838575"/>
            <a:ext cx="11049000" cy="638175"/>
          </a:xfrm>
          <a:custGeom>
            <a:pathLst>
              <a:path w="1160" h="6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3"/>
                </a:lnTo>
                <a:cubicBezTo>
                  <a:pt x="4" y="65"/>
                  <a:pt x="5" y="67"/>
                  <a:pt x="7" y="67"/>
                </a:cubicBezTo>
                <a:cubicBezTo>
                  <a:pt x="3" y="67"/>
                  <a:pt x="0" y="63"/>
                  <a:pt x="0" y="5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57250" y="4029075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但每一个写操作，都必须回到用户本人的</a:t>
            </a:r>
            <a:r>
              <a:rPr lang="en-US" sz="1650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两道凭证</a:t>
            </a: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行业普遍理解错了难点&lt;/Text&gt;&#10;  &lt;/Box&gt;&#10;  &lt;Box style={{ width: '100%', height: 1, background: '#334155', marginBottom: 28 }} /&gt;&#10;  &lt;Box style={{ flexDirection: 'row', gap: 28 }}&gt;&#10;    &lt;Box style={{ flex: 1, background: '#1E293B', border: '1px solid #334155', borderRadius: 12, padding: 26 }}&gt;&#10;      &lt;Text style={{ fontSize: 22, fontWeight: 'bold', color: '#94A3B8', marginBottom: 18 }}&gt;常见认知（误区）&lt;/Text&gt;&#10;      {[&#10;        { l: '模型不够聪明', d: '会理解错：指代错人、同音字选错' },&#10;        { l: '多给点上下文就行', d: '会被骗：账单商户名里藏指令' },&#10;        { l: '换个更大的模型', d: '会幻觉：『上个月』解析成 2023-09' },&#10;      ].map((it, i) =&gt; (&#10;        &lt;Box key={i}&gt;&#10;          &lt;Box style={{ marginBottom: 16 }}&gt;&#10;            &lt;Text style={{ fontSize: 18, color: '#E2E8F0', fontWeight: 'bold', marginBottom: 6 }}&gt;{it.l}&lt;/Text&gt;&#10;            &lt;Text style={{ fontSize: 16, color: '#94A3B8', lineHeight: 1.5 }}&gt;{it.d}&lt;/Text&gt;&#10;          &lt;/Box&gt;&#10;          {i &lt; 2 &amp;&amp; &lt;Box style={{ width: '100%', height: 1, background: '#334155', marginBottom: 16 }} /&gt;}&#10;        &lt;/Box&gt;&#10;      ))}&#10;    &lt;/Box&gt;&#10;    &lt;Box style={{ flex: 1, background: '#1E293B', border: '1px solid #6366F1', borderRadius: 12, padding: 26 }}&gt;&#10;      &lt;Text style={{ fontSize: 22, fontWeight: 'bold', color: '#A5B4FC', marginBottom: 18 }}&gt;真实难点&lt;/Text&gt;&#10;      {[&#10;        { l: '理解错', d: '指代错人、同音字选错——意图与对象根本对不上' },&#10;        { l: '被骗', d: '账单商户名里藏指令——数据即攻击载荷' },&#10;        { l: '幻觉', d: '『上个月』解析成 2023-09——时间都编出来了' },&#10;      ].map((it, i) =&gt; (&#10;        &lt;Box key={i}&gt;&#10;          &lt;Box style={{ marginBottom: 16 }}&gt;&#10;            &lt;Text style={{ fontSize: 18, color: '#F87171', fontWeight: 'bold', marginBottom: 6 }}&gt;{it.l}&lt;/Text&gt;&#10;            &lt;Text style={{ fontSize: 16, color: '#CBD5E1', lineHeight: 1.5 }}&gt;{it.d}&lt;/Text&gt;&#10;          &lt;/Box&gt;&#10;          {i &lt; 2 &amp;&amp; &lt;Box style={{ width: '100%', height: 1, background: '#334155', marginBottom: 16 }} /&gt;}&#10;        &lt;/Box&gt;&#10;      ))}&#10;    &lt;/Box&gt;&#10;  &lt;/Box&gt;&#10;  &lt;Box style={{ background: '#1E293B', borderLeft: '4px solid #6366F1', borderRadius: 8, padding: '18px 24px', marginTop: 26 }}&gt;&#10;    &lt;Text style={{ fontSize: 20, color: '#CBD5E1' }}&gt;&#10;      结论：不能假设模型是对的。模型输出只是 &lt;Text style={{ color: '#A5B4FC', fontWeight: 'bold' }}&gt;「意图提议」&lt;/Text&gt;。&#10;    &lt;/Text&gt;&#10;  &lt;/Box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行业普遍理解错了难点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571500" y="1428750"/>
            <a:ext cx="5391150" cy="333375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19150" y="1676400"/>
            <a:ext cx="4895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94A3B8"/>
                </a:solidFill>
                <a:latin typeface="Microsoft YaHei"/>
                <a:ea typeface="Microsoft YaHei"/>
              </a:rPr>
              <a:t>常见认知（误区）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19150" y="2105025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模型不够聪明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19150" y="237172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会理解错：指代错人、同音字选错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19150" y="2800350"/>
            <a:ext cx="489585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多给点上下文就行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19150" y="32289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会被骗：账单商户名里藏指令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19150" y="3657600"/>
            <a:ext cx="489585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9150" y="3819525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换个更大的模型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9150" y="408622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会幻觉：『上个月』解析成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2023-09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229350" y="1428750"/>
            <a:ext cx="5391150" cy="333375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477000" y="1676400"/>
            <a:ext cx="4895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5B4FC"/>
                </a:solidFill>
                <a:latin typeface="Microsoft YaHei"/>
                <a:ea typeface="Microsoft YaHei"/>
              </a:rPr>
              <a:t>真实难点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477000" y="2105025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7171"/>
                </a:solidFill>
                <a:latin typeface="Microsoft YaHei"/>
                <a:ea typeface="Microsoft YaHei"/>
              </a:rPr>
              <a:t>理解错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477000" y="237172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指代错人、同音字选错——意图与对象根本对不上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477000" y="2800350"/>
            <a:ext cx="489585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477000" y="2962275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7171"/>
                </a:solidFill>
                <a:latin typeface="Microsoft YaHei"/>
                <a:ea typeface="Microsoft YaHei"/>
              </a:rPr>
              <a:t>被骗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477000" y="32289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账单商户名里藏指令——数据即攻击载荷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477000" y="3657600"/>
            <a:ext cx="489585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477000" y="3819525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7171"/>
                </a:solidFill>
                <a:latin typeface="Microsoft YaHei"/>
                <a:ea typeface="Microsoft YaHei"/>
              </a:rPr>
              <a:t>幻觉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77000" y="408622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『上个月』解析成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2023-09——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时间都编出来了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501015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609600" y="5010150"/>
            <a:ext cx="11049000" cy="571500"/>
          </a:xfrm>
          <a:custGeom>
            <a:pathLst>
              <a:path w="1160" h="6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6"/>
                </a:lnTo>
                <a:cubicBezTo>
                  <a:pt x="4" y="58"/>
                  <a:pt x="5" y="60"/>
                  <a:pt x="7" y="60"/>
                </a:cubicBezTo>
                <a:cubicBezTo>
                  <a:pt x="3" y="60"/>
                  <a:pt x="0" y="56"/>
                  <a:pt x="0" y="5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5181600"/>
            <a:ext cx="1055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结论：不能假设模型是对的。模型输出只是</a:t>
            </a:r>
            <a:r>
              <a:rPr lang="en-US" sz="1500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「意图提议」</a:t>
            </a: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13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三层解法（总纲）&lt;/Text&gt;&#10;  &lt;/Box&gt;&#10;  &lt;Box style={{ width: '100%', height: 1, background: '#334155', marginBottom: 24 }} /&gt;&#10;  &lt;Box style={{ gap: 18 }}&gt;&#10;    {[&#10;      { n: '01', t: '把权限做成结构', d: 'P0–P3 分级，高危动作智能体永久无权' },&#10;      { n: '02', t: '把确认做成数学', d: 'HMAC 参数指纹，改一个字符就失效' },&#10;      { n: '03', t: '把攻击做成回归', d: '70 条攻击 + 25 条误伤对照，每次合并必须全绿' },&#10;    ].map((it, i) =&gt; (&#10;      &lt;Box key={i} style={{ flexDirection: 'row', alignItems: 'center', gap: 24, background: '#1E293B', border: '1px solid #334155', borderRadius: 12, padding: '22px 26px' }}&gt;&#10;        &lt;Box style={{ width: 56, height: 56, borderRadius: 14, background: '#6366F1', justifyContent: 'center', alignItems: 'center' }}&gt;&#10;          &lt;Text style={{ fontSize: 24, fontWeight: 'bold', color: '#FFFFFF' }}&gt;{it.n}&lt;/Text&gt;&#10;        &lt;/Box&gt;&#10;        &lt;Box style={{ flex: 1 }}&gt;&#10;          &lt;Text style={{ fontSize: 24, fontWeight: 'bold', color: '#F1F5F9', marginBottom: 6 }}&gt;{it.t}&lt;/Text&gt;&#10;          &lt;Text style={{ fontSize: 18, color: '#CBD5E1', lineHeight: 1.5 }}&gt;{it.d}&lt;/Text&gt;&#10;        &lt;/Box&gt;&#10;      &lt;/Box&gt;&#10;    ))}&#10;  &lt;/Box&gt;&#10;  &lt;Box style={{ background: '#1E293B', borderLeft: '4px solid #6366F1', borderRadius: 8, padding: '18px 24px', marginTop: 24 }}&gt;&#10;    &lt;Text style={{ fontSize: 18, color: '#CBD5E1', lineHeight: 1.5 }}&gt;&#10;      注意第三层的「25」：误伤和漏拦一样是事故——把「你们风控规则是什么」也拦掉，产品就废了。&#10;    &lt;/Text&gt;&#10;  &lt;/Box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三层解法（总纲）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571500" y="139065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819150" y="16573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42975" y="17907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581150" y="1600200"/>
            <a:ext cx="979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1F5F9"/>
                </a:solidFill>
                <a:latin typeface="Microsoft YaHei"/>
                <a:ea typeface="Microsoft YaHei"/>
              </a:rPr>
              <a:t>把权限做成结构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581150" y="1933575"/>
            <a:ext cx="9791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P0–P3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分级，高危动作智能体永久无权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571500" y="262890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819150" y="28956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42975" y="30289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581150" y="2838450"/>
            <a:ext cx="979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1F5F9"/>
                </a:solidFill>
                <a:latin typeface="Microsoft YaHei"/>
                <a:ea typeface="Microsoft YaHei"/>
              </a:rPr>
              <a:t>把确认做成数学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581150" y="3171825"/>
            <a:ext cx="9791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HMAC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参数指纹，改一个字符就失效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71500" y="386715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819150" y="41338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42975" y="42672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581150" y="4076700"/>
            <a:ext cx="979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1F5F9"/>
                </a:solidFill>
                <a:latin typeface="Microsoft YaHei"/>
                <a:ea typeface="Microsoft YaHei"/>
              </a:rPr>
              <a:t>把攻击做成回归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581150" y="4410075"/>
            <a:ext cx="9791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70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条攻击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+ 25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条误伤对照，每次合并必须全绿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516255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609600" y="5162550"/>
            <a:ext cx="11049000" cy="657225"/>
          </a:xfrm>
          <a:custGeom>
            <a:pathLst>
              <a:path w="1160" h="6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5"/>
                </a:lnTo>
                <a:cubicBezTo>
                  <a:pt x="4" y="67"/>
                  <a:pt x="5" y="69"/>
                  <a:pt x="7" y="69"/>
                </a:cubicBezTo>
                <a:cubicBezTo>
                  <a:pt x="3" y="69"/>
                  <a:pt x="0" y="65"/>
                  <a:pt x="0" y="6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055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注意第三层的「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>25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」：误伤和漏拦一样是事故——把「你们风控规则是什么」也拦掉，产品就废了。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8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系统架构&lt;/Text&gt;&#10;  &lt;/Box&gt;&#10;  &lt;Box style={{ width: '100%', height: 1, background: '#334155', marginBottom: 22 }} /&gt;&#10;  &lt;Box style={{ gap: 0 }}&gt;&#10;    &lt;Box style={{ flexDirection: 'row', alignItems: 'center', gap: 24, background: '#1E293B', border: '1px solid #334155', borderRadius: 12, padding: '20px 26px' }}&gt;&#10;      &lt;Box style={{ width: 210 }}&gt;&#10;        &lt;Text style={{ fontSize: 22, fontWeight: 'bold', color: '#E2E8F0' }}&gt;表现层 &lt;Text style={{ color: '#64748B', fontWeight: 'normal' }}&gt;public/&lt;/Text&gt;&lt;/Text&gt;&#10;      &lt;/Box&gt;&#10;      &lt;Box style={{ width: 1, height: 46, background: '#334155' }} /&gt;&#10;      &lt;Text style={{ fontSize: 18, color: '#94A3B8', flex: 1, lineHeight: 1.5 }}&gt;可自由重构，不承担安全责任&lt;/Text&gt;&#10;    &lt;/Box&gt;&#10;    &lt;Box style={{ alignItems: 'center', padding: '6px 0' }}&gt;&#10;      &lt;FAIcon name='arrow-down' style={{ fill: '#6366F1', width: 24, height: 24 }} /&gt;&#10;    &lt;/Box&gt;&#10;    &lt;Box style={{ flexDirection: 'row', alignItems: 'center', gap: 24, background: '#1E293B', border: '1px solid #6366F1', borderRadius: 12, padding: '20px 26px' }}&gt;&#10;      &lt;Box style={{ width: 210 }}&gt;&#10;        &lt;Text style={{ fontSize: 22, fontWeight: 'bold', color: '#A5B4FC' }}&gt;网关层 &lt;Text style={{ color: '#64748B', fontWeight: 'normal' }}&gt;gateway&lt;/Text&gt;&lt;/Text&gt;&#10;      &lt;/Box&gt;&#10;      &lt;Box style={{ width: 1, height: 46, background: '#334155' }} /&gt;&#10;      &lt;Text style={{ fontSize: 18, color: '#CBD5E1', flex: 1, lineHeight: 1.5 }}&gt;数据隔离 / 权限 / schema / &lt;Text style={{ color: '#A5B4FC', fontWeight: 'bold' }}&gt;指纹&lt;/Text&gt; / 限速 / &lt;Text style={{ color: '#A5B4FC', fontWeight: 'bold' }}&gt;审计链&lt;/Text&gt;&lt;/Text&gt;&#10;    &lt;/Box&gt;&#10;    &lt;Box style={{ alignItems: 'center', padding: '6px 0' }}&gt;&#10;      &lt;FAIcon name='arrow-down' style={{ fill: '#6366F1', width: 24, height: 24 }} /&gt;&#10;    &lt;/Box&gt;&#10;    &lt;Box style={{ flexDirection: 'row', alignItems: 'center', gap: 24, background: '#1E293B', border: '1px solid #334155', borderRadius: 12, padding: '20px 26px' }}&gt;&#10;      &lt;Box style={{ width: 210 }}&gt;&#10;        &lt;Text style={{ fontSize: 22, fontWeight: 'bold', color: '#E2E8F0' }}&gt;能力层 &lt;Text style={{ color: '#64748B', fontWeight: 'normal' }}&gt;16 个模块&lt;/Text&gt;&lt;/Text&gt;&#10;      &lt;/Box&gt;&#10;      &lt;Box style={{ width: 1, height: 46, background: '#334155' }} /&gt;&#10;      &lt;Text style={{ fontSize: 18, color: '#94A3B8', flex: 1, lineHeight: 1.5 }}&gt;资金 / 通讯录 / 订阅 / 挂失 / 记忆 / 计划 / 上下文&lt;/Text&gt;&#10;    &lt;/Box&gt;&#10;  &lt;/Box&gt;&#10;  &lt;Text style={{ fontSize: 15, color: '#64748B', marginTop: 22 }}&gt;零第三方依赖 · 6,200 行 · Node ≥ 18　|　表现层可自由重构——安全责任不在 UI，UI 怎么改都不会破坏安全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1219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571500" y="1371600"/>
            <a:ext cx="11049000" cy="819150"/>
          </a:xfrm>
          <a:prstGeom prst="roundRect">
            <a:avLst>
              <a:gd name="adj" fmla="val 139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19150" y="1657350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表现层</a:t>
            </a:r>
            <a:r>
              <a:rPr lang="en-US" sz="16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E2E8F0"/>
                </a:solidFill>
                <a:latin typeface="Microsoft YaHei"/>
                <a:ea typeface="Microsoft YaHei"/>
              </a:rPr>
              <a:t>public/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3048000" y="1562100"/>
            <a:ext cx="9525" cy="43815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286125" y="1628775"/>
            <a:ext cx="80867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可自由重构，不承担安全责任</a:t>
            </a:r>
            <a:endParaRPr/>
          </a:p>
        </p:txBody>
      </p:sp>
      <p:pic>
        <p:nvPicPr>
          <p:cNvPr id="3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81700" y="2247900"/>
            <a:ext cx="228600" cy="228600"/>
          </a:xfrm>
          <a:prstGeom prst="rect">
            <a:avLst/>
          </a:prstGeom>
          <a:ln/>
        </p:spPr>
      </p:pic>
      <p:sp>
        <p:nvSpPr>
          <p:cNvPr id="348" name=""/>
          <p:cNvSpPr/>
          <p:nvPr/>
        </p:nvSpPr>
        <p:spPr>
          <a:xfrm rot="0" flipH="0" flipV="0">
            <a:off x="571500" y="2533650"/>
            <a:ext cx="11049000" cy="819150"/>
          </a:xfrm>
          <a:prstGeom prst="roundRect">
            <a:avLst>
              <a:gd name="adj" fmla="val 13953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19150" y="2819400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5B4FC"/>
                </a:solidFill>
                <a:latin typeface="Microsoft YaHei"/>
                <a:ea typeface="Microsoft YaHei"/>
              </a:rPr>
              <a:t>网关层</a:t>
            </a:r>
            <a:r>
              <a:rPr lang="en-US" sz="1650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A5B4FC"/>
                </a:solidFill>
                <a:latin typeface="Microsoft YaHei"/>
                <a:ea typeface="Microsoft YaHei"/>
              </a:rPr>
              <a:t>gateway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048000" y="2724150"/>
            <a:ext cx="9525" cy="43815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286125" y="2790825"/>
            <a:ext cx="80867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数据隔离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权限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schema /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指纹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限速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审计链</a:t>
            </a:r>
            <a:endParaRPr/>
          </a:p>
        </p:txBody>
      </p:sp>
      <p:pic>
        <p:nvPicPr>
          <p:cNvPr id="3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81700" y="3409950"/>
            <a:ext cx="228600" cy="228600"/>
          </a:xfrm>
          <a:prstGeom prst="rect">
            <a:avLst/>
          </a:prstGeom>
          <a:ln/>
        </p:spPr>
      </p:pic>
      <p:sp>
        <p:nvSpPr>
          <p:cNvPr id="353" name=""/>
          <p:cNvSpPr/>
          <p:nvPr/>
        </p:nvSpPr>
        <p:spPr>
          <a:xfrm rot="0" flipH="0" flipV="0">
            <a:off x="571500" y="3695700"/>
            <a:ext cx="11049000" cy="819150"/>
          </a:xfrm>
          <a:prstGeom prst="roundRect">
            <a:avLst>
              <a:gd name="adj" fmla="val 139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能力层</a:t>
            </a:r>
            <a:r>
              <a:rPr lang="en-US" sz="16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16 </a:t>
            </a: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个模块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048000" y="3886200"/>
            <a:ext cx="9525" cy="43815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286125" y="3952875"/>
            <a:ext cx="80867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资金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通讯录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订阅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挂失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记忆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计划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上下文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" y="47244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零第三方依赖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6,200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Node ≥ 18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　表现层可自由重构——安全责任不在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UI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UI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怎么改都不会破坏安全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0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防线一 · 数据隔离（不是关键词过滤）&lt;/Text&gt;&#10;  &lt;/Box&gt;&#10;  &lt;Box style={{ width: '100%', height: 1, background: '#334155', marginBottom: 24 }} /&gt;&#10;  &lt;Box style={{ flexDirection: 'row', gap: 28, marginBottom: 24 }}&gt;&#10;    &lt;Box style={{ flex: 1, background: '#1E293B', border: '1px solid #EF4444', borderRadius: 12, padding: 24 }}&gt;&#10;      &lt;Text style={{ fontSize: 22, fontWeight: 'bold', color: '#F87171', marginBottom: 14 }}&gt;错误做法 · 正则黑名单&lt;/Text&gt;&#10;      &lt;Text style={{ fontSize: 18, color: '#CBD5E1', lineHeight: 1.6 }}&gt;命中即拦，漏了就加一条规则——打地鼠，永远在补洞，补一个漏一片。&lt;/Text&gt;&#10;    &lt;/Box&gt;&#10;    &lt;Box style={{ flex: 1, background: '#1E293B', border: '1px solid #6366F1', borderRadius: 12, padding: 24 }}&gt;&#10;      &lt;Text style={{ fontSize: 22, fontWeight: 'bold', color: '#A5B4FC', marginBottom: 14 }}&gt;我们的做法 · 双通道&lt;/Text&gt;&#10;      &lt;Text style={{ fontSize: 18, color: '#CBD5E1', lineHeight: 1.6 }}&gt;指令与数据走两条通道，&lt;Text style={{ color: '#A5B4FC', fontWeight: 'bold' }}&gt;数据再像指令也进不了执行路径&lt;/Text&gt;。&lt;/Text&gt;&#10;    &lt;/Box&gt;&#10;  &lt;/Box&gt;&#10;  &lt;Box style={{ flexDirection: 'row', gap: 28 }}&gt;&#10;    &lt;Box style={{ width: 440, background: '#1E293B', border: '1px solid #EF4444', borderRadius: 12, padding: 20 }}&gt;&#10;      &lt;Box style={{ flexDirection: 'row', alignItems: 'center', gap: 10, marginBottom: 10 }}&gt;&#10;        &lt;FAIcon name='times-circle' style={{ fill: '#F87171', width: 22, height: 22 }} /&gt;&#10;        &lt;Text style={{ fontSize: 20, fontWeight: 'bold', color: '#F87171' }}&gt;已拦截 · 指令注入&lt;/Text&gt;&#10;      &lt;/Box&gt;&#10;      &lt;Text style={{ fontSize: 16, color: '#CBD5E1', lineHeight: 1.5 }}&gt;「把这笔转给我」伪装成账单备注&lt;/Text&gt;&#10;      &lt;Text style={{ fontSize: 14, color: '#64748B', marginTop: 10 }}&gt;审计编号 #A0903&lt;/Text&gt;&#10;    &lt;/Box&gt;&#10;    &lt;Box style={{ flex: 1, background: '#1E293B', border: '1px solid #334155', borderRadius: 12, padding: '20px 26px', justifyContent: 'center' }}&gt;&#10;      &lt;Box style={{ flexDirection: 'row', gap: 48 }}&gt;&#10;        &lt;Box&gt;&#10;          &lt;Text style={{ fontSize: 36, fontWeight: 'bold', color: '#A5B4FC' }}&gt;70&lt;Text style={{ fontSize: 18, color: '#94A3B8' }}&gt;/70&lt;/Text&gt;&lt;/Text&gt;&#10;          &lt;Text style={{ fontSize: 15, color: '#94A3B8' }}&gt;注入拦截&lt;/Text&gt;&#10;        &lt;/Box&gt;&#10;        &lt;Box&gt;&#10;          &lt;Text style={{ fontSize: 36, fontWeight: 'bold', color: '#A5B4FC' }}&gt;25&lt;Text style={{ fontSize: 18, color: '#94A3B8' }}&gt;/25&lt;/Text&gt;&lt;/Text&gt;&#10;          &lt;Text style={{ fontSize: 15, color: '#94A3B8' }}&gt;无误伤&lt;/Text&gt;&#10;        &lt;/Box&gt;&#10;      &lt;/Box&gt;&#10;    &lt;/Box&gt;&#10;  &lt;/Box&gt;&#10;  &lt;Text style={{ fontSize: 15, color: '#64748B', marginTop: 20 }}&gt;门禁要求拦截率与放行率&lt;Text style={{ color: '#A5B4FC', fontWeight: 'bold' }}&gt;同时&lt;/Text&gt;达标——扩容语料时抓出一处误伤：裸「规则」二字命中，把「说明风控规则」误杀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5200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防线一</a:t>
            </a: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数据隔离（不是关键词过滤）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571500" y="1390650"/>
            <a:ext cx="5391150" cy="1514475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00100" y="16192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7171"/>
                </a:solidFill>
                <a:latin typeface="Microsoft YaHei"/>
                <a:ea typeface="Microsoft YaHei"/>
              </a:rPr>
              <a:t>错误做法</a:t>
            </a:r>
            <a:r>
              <a:rPr lang="en-US" sz="1650" b="1">
                <a:solidFill>
                  <a:srgbClr val="F8717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F87171"/>
                </a:solidFill>
                <a:latin typeface="Microsoft YaHei"/>
                <a:ea typeface="Microsoft YaHei"/>
              </a:rPr>
              <a:t>正则黑名单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0100" y="2009775"/>
            <a:ext cx="49339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命中即拦，漏了就加一条规则——打地鼠，永远在补洞，补一个漏一片。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229350" y="1390650"/>
            <a:ext cx="5391150" cy="1514475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457950" y="16192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5B4FC"/>
                </a:solidFill>
                <a:latin typeface="Microsoft YaHei"/>
                <a:ea typeface="Microsoft YaHei"/>
              </a:rPr>
              <a:t>我们的做法</a:t>
            </a:r>
            <a:r>
              <a:rPr lang="en-US" sz="1650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A5B4FC"/>
                </a:solidFill>
                <a:latin typeface="Microsoft YaHei"/>
                <a:ea typeface="Microsoft YaHei"/>
              </a:rPr>
              <a:t>双通道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457950" y="2009775"/>
            <a:ext cx="49339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指令与数据走两条通道，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数据再像指令也进不了执行路径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71500" y="3133725"/>
            <a:ext cx="4191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pic>
        <p:nvPicPr>
          <p:cNvPr id="3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3333750"/>
            <a:ext cx="209550" cy="209550"/>
          </a:xfrm>
          <a:prstGeom prst="rect">
            <a:avLst/>
          </a:prstGeom>
          <a:ln/>
        </p:spPr>
      </p:pic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066800" y="3324225"/>
            <a:ext cx="1533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7171"/>
                </a:solidFill>
                <a:latin typeface="Microsoft YaHei"/>
                <a:ea typeface="Microsoft YaHei"/>
              </a:rPr>
              <a:t>已拦截</a:t>
            </a:r>
            <a:r>
              <a:rPr lang="en-US" sz="1500" b="1">
                <a:solidFill>
                  <a:srgbClr val="F8717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87171"/>
                </a:solidFill>
                <a:latin typeface="Microsoft YaHei"/>
                <a:ea typeface="Microsoft YaHei"/>
              </a:rPr>
              <a:t>指令注入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「把这笔转给我」伪装成账单备注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62000" y="401955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审计编号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#A0903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5029200" y="3133725"/>
            <a:ext cx="65913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276850" y="3457575"/>
            <a:ext cx="1009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A5B4FC"/>
                </a:solidFill>
                <a:latin typeface="Microsoft YaHei"/>
                <a:ea typeface="Microsoft YaHei"/>
              </a:rPr>
              <a:t>70</a:t>
            </a:r>
            <a:r>
              <a:rPr lang="en-US" sz="2700" b="1">
                <a:solidFill>
                  <a:srgbClr val="A5B4FC"/>
                </a:solidFill>
                <a:latin typeface="Microsoft YaHei"/>
                <a:ea typeface="Microsoft YaHei"/>
              </a:rPr>
              <a:t>/70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276850" y="387667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注入拦截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743700" y="3457575"/>
            <a:ext cx="1009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A5B4FC"/>
                </a:solidFill>
                <a:latin typeface="Microsoft YaHei"/>
                <a:ea typeface="Microsoft YaHei"/>
              </a:rPr>
              <a:t>25</a:t>
            </a:r>
            <a:r>
              <a:rPr lang="en-US" sz="2700" b="1">
                <a:solidFill>
                  <a:srgbClr val="A5B4FC"/>
                </a:solidFill>
                <a:latin typeface="Microsoft YaHei"/>
                <a:ea typeface="Microsoft YaHei"/>
              </a:rPr>
              <a:t>/25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743700" y="387667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无误伤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1500" y="45624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门禁要求拦截率与放行率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同时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达标——扩容语料时抓出一处误伤：裸「规则」二字命中，把「说明风控规则」误杀。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防线二 · P0–P3 权限分级&lt;/Text&gt;&#10;  &lt;/Box&gt;&#10;  &lt;Box style={{ width: '100%', height: 1, background: '#334155', marginBottom: 16 }} /&gt;&#10;  &lt;Box style={{ background: '#1E293B', border: '1px solid #334155', borderRadius: 12, overflow: 'hidden' }}&gt;&#10;    &lt;Box style={{ flexDirection: 'row', alignItems: 'center', padding: '14px 24px', background: '#0B1120' }}&gt;&#10;      &lt;Box style={{ width: 130 }}&gt;&lt;Text style={{ fontSize: 16, color: '#64748B', fontWeight: 'bold' }}&gt;级别&lt;/Text&gt;&lt;/Box&gt;&#10;      &lt;Box style={{ flex: 1 }}&gt;&lt;Text style={{ fontSize: 16, color: '#64748B', fontWeight: 'bold' }}&gt;例子&lt;/Text&gt;&lt;/Box&gt;&#10;      &lt;Box style={{ width: 300 }}&gt;&lt;Text style={{ fontSize: 16, color: '#64748B', fontWeight: 'bold' }}&gt;智能体&lt;/Text&gt;&lt;/Box&gt;&#10;    &lt;/Box&gt;&#10;    {[&#10;      { lv: 'P0', name: '只读', ex: '查余额、查账单', act: '直接答', color: '#334155' },&#10;      { lv: 'P1', name: '低敏写', ex: '定时转账、取消订阅', act: '申请 + 一次确认', color: '#334155' },&#10;      { lv: 'P2', name: '资金', ex: '转账、申购、挂失、锁资', act: '申请 + 支付密码 + 短信', color: '#6366F1' },&#10;      { lv: 'P3', name: '高危', ex: '解绑卡、改支付密码、解绑手机', act: '永久无权', color: '#EF4444' },&#10;    ].map((r, i) =&gt; (&#10;      &lt;Box key={i}&gt;&#10;        &lt;Box style={{ flexDirection: 'row', alignItems: 'center', padding: '16px 24px' }}&gt;&#10;          &lt;Box style={{ width: 130, flexDirection: 'row', alignItems: 'center', gap: 10 }}&gt;&#10;            &lt;Box style={{ background: r.color, borderRadius: 8, padding: '6px 12px' }}&gt;&#10;              &lt;Text style={{ fontSize: 16, fontWeight: 'bold', color: '#FFFFFF' }}&gt;{r.lv}&lt;/Text&gt;&#10;            &lt;/Box&gt;&#10;            &lt;Text style={{ fontSize: 16, color: '#E2E8F0' }}&gt;{r.name}&lt;/Text&gt;&#10;          &lt;/Box&gt;&#10;          &lt;Box style={{ flex: 1 }}&gt;&lt;Text style={{ fontSize: 17, color: '#CBD5E1' }}&gt;{r.ex}&lt;/Text&gt;&lt;/Box&gt;&#10;          &lt;Box style={{ width: 300 }}&gt;&lt;Text style={{ fontSize: 17, color: r.color === '#EF4444' ? '#F87171' : '#A5B4FC', fontWeight: 'bold' }}&gt;{r.act}&lt;/Text&gt;&lt;/Box&gt;&#10;        &lt;/Box&gt;&#10;        {i &lt; 3 &amp;&amp; &lt;Box style={{ width: '100%', height: 1, background: '#334155' }} /&gt;}&#10;      &lt;/Box&gt;&#10;    ))}&#10;  &lt;/Box&gt;&#10;  &lt;Box style={{ background: '#1E293B', borderLeft: '4px solid #6366F1', borderRadius: 8, padding: '18px 24px', marginTop: 22 }}&gt;&#10;    &lt;Text style={{ fontSize: 18, color: '#CBD5E1' }}&gt;&#10;      &lt;Text style={{ color: '#A5B4FC', fontWeight: 'bold' }}&gt;P3 不是「暂不支持」，是产品结论&lt;/Text&gt;——解绑卡交给可能被注入的链路，等于把最高危权限外包给模型。&#10;    &lt;/Text&gt;&#10;  &lt;/Box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34861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防线二</a:t>
            </a: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P0–P3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权限分级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571500" y="1314450"/>
            <a:ext cx="11049000" cy="2924175"/>
          </a:xfrm>
          <a:prstGeom prst="roundRect">
            <a:avLst>
              <a:gd name="adj" fmla="val 3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571500" y="1314450"/>
            <a:ext cx="11049000" cy="457200"/>
          </a:xfrm>
          <a:custGeom>
            <a:pathLst>
              <a:path w="1160" h="48">
                <a:moveTo>
                  <a:pt x="1148" y="0"/>
                </a:moveTo>
                <a:cubicBezTo>
                  <a:pt x="1155" y="0"/>
                  <a:pt x="1160" y="5"/>
                  <a:pt x="1160" y="12"/>
                </a:cubicBezTo>
                <a:lnTo>
                  <a:pt x="1160" y="48"/>
                </a:lnTo>
                <a:lnTo>
                  <a:pt x="0" y="48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0B1120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级别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2038350" y="1447800"/>
            <a:ext cx="649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例子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534400" y="14478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800100" y="1924050"/>
            <a:ext cx="428625" cy="3048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14400" y="19812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P0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323975" y="1981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2038350" y="1981200"/>
            <a:ext cx="6496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查余额、查账单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534400" y="19812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直接答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571500" y="238125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800100" y="2543175"/>
            <a:ext cx="428625" cy="3048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14400" y="260032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323975" y="26003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低敏写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2038350" y="2600325"/>
            <a:ext cx="6496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定时转账、取消订阅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534400" y="260032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申请</a:t>
            </a:r>
            <a:r>
              <a:rPr lang="en-US" sz="1275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一次确认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571500" y="300037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800100" y="3162300"/>
            <a:ext cx="428625" cy="3048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14400" y="321945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323975" y="32194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资金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2038350" y="3219450"/>
            <a:ext cx="6496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转账、申购、挂失、锁资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534400" y="32194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申请</a:t>
            </a:r>
            <a:r>
              <a:rPr lang="en-US" sz="1275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支付密码</a:t>
            </a:r>
            <a:r>
              <a:rPr lang="en-US" sz="1275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短信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571500" y="36195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800100" y="3781425"/>
            <a:ext cx="428625" cy="3048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14400" y="38385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P3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323975" y="38385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高危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2038350" y="3838575"/>
            <a:ext cx="6496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解绑卡、改支付密码、解绑手机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534400" y="38385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7171"/>
                </a:solidFill>
                <a:latin typeface="Microsoft YaHei"/>
                <a:ea typeface="Microsoft YaHei"/>
              </a:rPr>
              <a:t>永久无权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4448175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09600" y="4448175"/>
            <a:ext cx="11049000" cy="552450"/>
          </a:xfrm>
          <a:custGeom>
            <a:pathLst>
              <a:path w="1160" h="5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4"/>
                </a:lnTo>
                <a:cubicBezTo>
                  <a:pt x="4" y="56"/>
                  <a:pt x="5" y="58"/>
                  <a:pt x="7" y="58"/>
                </a:cubicBezTo>
                <a:cubicBezTo>
                  <a:pt x="3" y="58"/>
                  <a:pt x="0" y="54"/>
                  <a:pt x="0" y="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8200" y="4619625"/>
            <a:ext cx="1055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P3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不是「暂不支持」，是产品结论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——解绑卡交给可能被注入的链路，等于把最高危权限外包给模型。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22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防线三 · HMAC 参数指纹（最有说服力的一页）&lt;/Text&gt;&#10;  &lt;/Box&gt;&#10;  &lt;Box style={{ width: '100%', height: 1, background: '#334155', marginBottom: 24 }} /&gt;&#10;  &lt;Box style={{ flexDirection: 'row', gap: 28, marginBottom: 22 }}&gt;&#10;    &lt;Box style={{ width: 420, background: '#1E293B', border: '1px solid #6366F1', borderRadius: 12, padding: 24 }}&gt;&#10;      &lt;Text style={{ fontSize: 20, fontWeight: 'bold', color: '#A5B4FC', marginBottom: 16 }}&gt;授权单 · Authorization&lt;/Text&gt;&#10;      &lt;Box style={{ gap: 10 }}&gt;&#10;        &lt;Box style={{ flexDirection: 'row', justifyContent: 'space-between' }}&gt;&lt;Text style={{ fontSize: 17, color: '#94A3B8' }}&gt;收款人&lt;/Text&gt;&lt;Text style={{ fontSize: 17, color: '#E2E8F0' }}&gt;张桂芳&lt;/Text&gt;&lt;/Box&gt;&#10;        &lt;Box style={{ flexDirection: 'row', justifyContent: 'space-between' }}&gt;&lt;Text style={{ fontSize: 17, color: '#94A3B8' }}&gt;金额&lt;/Text&gt;&lt;Text style={{ fontSize: 17, color: '#E2E8F0' }}&gt;¥100.00&lt;/Text&gt;&lt;/Box&gt;&#10;        &lt;Box style={{ flexDirection: 'row', justifyContent: 'space-between' }}&gt;&lt;Text style={{ fontSize: 17, color: '#94A3B8' }}&gt;收款账户&lt;/Text&gt;&lt;Text style={{ fontSize: 17, color: '#E2E8F0' }}&gt;6225 **** 8841&lt;/Text&gt;&lt;/Box&gt;&#10;      &lt;/Box&gt;&#10;      &lt;Box style={{ width: '100%', height: 1, background: '#334155', margin: '16px 0' }} /&gt;&#10;      &lt;Text style={{ fontSize: 15, color: '#64748B', marginBottom: 6 }}&gt;参数指纹&lt;/Text&gt;&#10;      &lt;Text style={{ fontSize: 28, fontWeight: 'bold', color: '#A5B4FC', fontFamily: 'Consolas, monospace', letterSpacing: 2 }}&gt;7F3A·9C21&lt;/Text&gt;&#10;    &lt;/Box&gt;&#10;    &lt;Box style={{ flex: 1, background: '#0B1120', border: '1px solid #334155', borderRadius: 12, padding: 24, justifyContent: 'center' }}&gt;&#10;      &lt;Text style={{ fontSize: 15, color: '#64748B', marginBottom: 12, fontFamily: 'Consolas, monospace' }}&gt;// 参数指纹&lt;/Text&gt;&#10;      &lt;Text style={{ fontSize: 18, color: '#A5B4FC', fontFamily: 'Consolas, monospace', lineHeight: 1.8 }}&gt;&#10;        fingerprint =&lt;br/&gt;&#10;        HMAC-SHA256(&lt;br/&gt;&#10;        &amp;nbsp;&amp;nbsp;金额 ‖ 收款人&lt;br/&gt;&#10;        &amp;nbsp;&amp;nbsp;‖ 收款账户 ‖ 资源ID&lt;br/&gt;&#10;        )&lt;br/&gt;&#10;        展示给用户：7F3A·9C21&#10;      &lt;/Text&gt;&#10;    &lt;/Box&gt;&#10;  &lt;/Box&gt;&#10;  &lt;Box style={{ flexDirection: 'row', gap: 24, marginBottom: 18 }}&gt;&#10;    &lt;Box style={{ flex: 1, background: '#1E293B', border: '1px solid #6366F1', borderRadius: 12, padding: '16px 22px' }}&gt;&#10;      &lt;Text style={{ fontSize: 18, color: '#E2E8F0' }}&gt;&lt;Text style={{ color: '#A5B4FC', fontWeight: 'bold' }}&gt;正常确认&lt;/Text&gt; → 成功&lt;/Text&gt;&#10;    &lt;/Box&gt;&#10;    &lt;Box style={{ flex: 1, background: '#1E293B', border: '1px solid #EF4444', borderRadius: 12, padding: '16px 22px' }}&gt;&#10;      &lt;Text style={{ fontSize: 18, color: '#E2E8F0' }}&gt;&lt;Text style={{ color: '#F87171', fontWeight: 'bold' }}&gt;改金额再确认&lt;/Text&gt; → 阻断「参数与指纹不匹配」，原单据仍为 ¥100&lt;/Text&gt;&#10;    &lt;/Box&gt;&#10;  &lt;/Box&gt;&#10;  &lt;Text style={{ fontSize: 18, color: '#CBD5E1' }}&gt;这不是靠提示词让模型别改，是 &lt;Text style={{ color: '#A5B4FC', fontWeight: 'bold' }}&gt;数学上改不了&lt;/Text&gt;——提示词拦不住中间人、前端 bug、用户手误，只有密码学能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65817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防线三</a:t>
            </a: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HMAC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参数指纹（最有说服力的一页）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571500" y="1390650"/>
            <a:ext cx="4000500" cy="297180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00100" y="1619250"/>
            <a:ext cx="3543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5B4FC"/>
                </a:solidFill>
                <a:latin typeface="Microsoft YaHei"/>
                <a:ea typeface="Microsoft YaHei"/>
              </a:rPr>
              <a:t>授权单</a:t>
            </a:r>
            <a:r>
              <a:rPr lang="en-US" sz="1500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 · Authorization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收款人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3857625" y="20002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张桂芳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00100" y="22955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金额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733800" y="2295525"/>
            <a:ext cx="60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¥100.00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00100" y="25908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收款账户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190875" y="2590800"/>
            <a:ext cx="1152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6225 **** 8841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800100" y="2943225"/>
            <a:ext cx="35433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00100" y="310515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参数指纹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3543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150">
                <a:solidFill>
                  <a:srgbClr val="A5B4FC"/>
                </a:solidFill>
                <a:latin typeface="Consolas"/>
                <a:ea typeface="Consolas"/>
              </a:rPr>
              <a:t>7F3A·9C21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838700" y="1390650"/>
            <a:ext cx="6781800" cy="2971800"/>
          </a:xfrm>
          <a:prstGeom prst="roundRect">
            <a:avLst>
              <a:gd name="adj" fmla="val 3846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5067300" y="161925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Consolas"/>
                <a:ea typeface="Consolas"/>
              </a:rPr>
              <a:t xml:space="preserve">// </a:t>
            </a:r>
            <a:r>
              <a:rPr lang="zh-CN" sz="1125">
                <a:solidFill>
                  <a:srgbClr val="64748B"/>
                </a:solidFill>
                <a:latin typeface="Consolas"/>
                <a:ea typeface="Consolas"/>
              </a:rPr>
              <a:t>参数指纹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5067300" y="1905000"/>
            <a:ext cx="6324600" cy="2228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>fingerprint =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>HMAC-SHA256(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  金额</a:t>
            </a: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 xml:space="preserve"> ‖ </a:t>
            </a: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收款人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 xml:space="preserve">  ‖ </a:t>
            </a: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收款账户</a:t>
            </a: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 xml:space="preserve"> ‖ </a:t>
            </a: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资源</a:t>
            </a: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>ID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>)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展示给用户：</a:t>
            </a: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>7F3A·9C21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571500" y="4572000"/>
            <a:ext cx="5410200" cy="5143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81050" y="47244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正常确认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成功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210300" y="4572000"/>
            <a:ext cx="5410200" cy="5143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419850" y="47244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改金额再确认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阻断「参数与指纹不匹配」，原单据仍为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¥100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71500" y="5257800"/>
            <a:ext cx="1104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这不是靠提示词让模型别改，是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数学上改不了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——提示词拦不住中间人、前端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、用户手误，只有密码学能。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48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防线四 · 收款人解析层 —— 不猜&lt;/Text&gt;&#10;  &lt;/Box&gt;&#10;  &lt;Box style={{ width: '100%', height: 1, background: '#334155', marginBottom: 24 }} /&gt;&#10;  &lt;Box style={{ flexDirection: 'row', gap: 20, marginBottom: 24 }}&gt;&#10;    &lt;Box style={{ flex: 1, background: '#1E293B', border: '1px solid #6366F1', borderRadius: 12, padding: '18px 22px' }}&gt;&#10;      &lt;Text style={{ fontSize: 20, fontWeight: 'bold', color: '#A5B4FC', marginBottom: 10 }}&gt;verified · 已核验&lt;/Text&gt;&#10;      &lt;Text style={{ fontSize: 17, color: '#CBD5E1', lineHeight: 1.5 }}&gt;可转；有同音联系人&lt;Text style={{ color: '#A5B4FC', fontWeight: 'bold' }}&gt;必须提示&lt;/Text&gt;&lt;/Text&gt;&#10;    &lt;/Box&gt;&#10;    &lt;Box style={{ flex: 1, background: '#1E293B', border: '1px solid #334155', borderRadius: 12, padding: '18px 22px' }}&gt;&#10;      &lt;Text style={{ fontSize: 20, fontWeight: 'bold', color: '#E2E8F0', marginBottom: 10 }}&gt;pending · 待确认&lt;/Text&gt;&#10;      &lt;Text style={{ fontSize: 17, color: '#CBD5E1', lineHeight: 1.5 }}&gt;单笔上限 &lt;Text style={{ color: '#A5B4FC', fontWeight: 'bold' }}&gt;¥50&lt;/Text&gt;&lt;/Text&gt;&#10;    &lt;/Box&gt;&#10;    &lt;Box style={{ flex: 1, background: '#1E293B', border: '1px solid #EF4444', borderRadius: 12, padding: '18px 22px' }}&gt;&#10;      &lt;Text style={{ fontSize: 20, fontWeight: 'bold', color: '#F87171', marginBottom: 10 }}&gt;unknown · 未知&lt;/Text&gt;&#10;      &lt;Text style={{ fontSize: 17, color: '#CBD5E1', lineHeight: 1.5 }}&gt;&lt;Text style={{ color: '#F87171', fontWeight: 'bold' }}&gt;直接拒绝&lt;/Text&gt;，给两个按钮让用户自己选&lt;/Text&gt;&#10;    &lt;/Box&gt;&#10;  &lt;/Box&gt;&#10;  &lt;Box style={{ flexDirection: 'row', gap: 24 }}&gt;&#10;    &lt;Box style={{ width: 420, background: '#1E293B', border: '1px solid #334155', borderRadius: 12, padding: 22 }}&gt;&#10;      &lt;Text style={{ fontSize: 15, color: '#64748B', marginBottom: 12 }}&gt;同音混淆卡&lt;/Text&gt;&#10;      &lt;Text style={{ fontSize: 22, color: '#E2E8F0', marginBottom: 8 }}&gt;妈妈 → 张桂芳&lt;/Text&gt;&#10;      &lt;Text style={{ fontSize: 16, color: '#94A3B8', lineHeight: 1.5 }}&gt;提示还有「妈玛」李梅，需用户二次确认&lt;/Text&gt;&#10;    &lt;/Box&gt;&#10;    &lt;Box style={{ flex: 1, background: '#1E293B', border: '1px solid #6366F1', borderRadius: 12, padding: '18px 24px', justifyContent: 'center' }}&gt;&#10;      &lt;Text style={{ fontSize: 17, color: '#CBD5E1', lineHeight: 1.6 }}&gt;&#10;        另设 &lt;Text style={{ color: '#A5B4FC', fontWeight: 'bold' }}&gt;『卡号直转』通道&lt;/Text&gt; 供本人手填，与 Agent 通道&lt;Text style={{ color: '#A5B4FC', fontWeight: 'bold' }}&gt;物理隔离&lt;/Text&gt;——Agent 无权把任意卡号变成收款人。&#10;      &lt;/Text&gt;&#10;    &lt;/Box&gt;&#10;  &lt;/Box&gt;&#10;  &lt;Text style={{ fontSize: 15, color: '#64748B', marginTop: 20 }}&gt;解析不到就停下来问。「系统会猜」是攻击者最喜欢的东西。同音识别用同音表，不用编辑距离——避免误伤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45148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防线四</a:t>
            </a: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收款人解析层</a:t>
            </a: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不猜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571500" y="1390650"/>
            <a:ext cx="3552825" cy="962025"/>
          </a:xfrm>
          <a:prstGeom prst="roundRect">
            <a:avLst>
              <a:gd name="adj" fmla="val 11881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5B4FC"/>
                </a:solidFill>
                <a:latin typeface="Microsoft YaHei"/>
                <a:ea typeface="Microsoft YaHei"/>
              </a:rPr>
              <a:t xml:space="preserve">verified · </a:t>
            </a:r>
            <a:r>
              <a:rPr lang="zh-CN" sz="1500" b="1">
                <a:solidFill>
                  <a:srgbClr val="A5B4FC"/>
                </a:solidFill>
                <a:latin typeface="Microsoft YaHei"/>
                <a:ea typeface="Microsoft YaHei"/>
              </a:rPr>
              <a:t>已核验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可转；有同音联系人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必须提示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4314825" y="1390650"/>
            <a:ext cx="3562350" cy="962025"/>
          </a:xfrm>
          <a:prstGeom prst="roundRect">
            <a:avLst>
              <a:gd name="adj" fmla="val 118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524375" y="15621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pending · </a:t>
            </a:r>
            <a:r>
              <a:rPr lang="zh-CN" sz="1500" b="1">
                <a:solidFill>
                  <a:srgbClr val="E2E8F0"/>
                </a:solidFill>
                <a:latin typeface="Microsoft YaHei"/>
                <a:ea typeface="Microsoft YaHei"/>
              </a:rPr>
              <a:t>待确认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524375" y="1885950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单笔上限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>¥50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8067675" y="1390650"/>
            <a:ext cx="3552825" cy="962025"/>
          </a:xfrm>
          <a:prstGeom prst="roundRect">
            <a:avLst>
              <a:gd name="adj" fmla="val 1188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277225" y="1562100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7171"/>
                </a:solidFill>
                <a:latin typeface="Microsoft YaHei"/>
                <a:ea typeface="Microsoft YaHei"/>
              </a:rPr>
              <a:t xml:space="preserve">unknown · </a:t>
            </a:r>
            <a:r>
              <a:rPr lang="zh-CN" sz="1500" b="1">
                <a:solidFill>
                  <a:srgbClr val="F87171"/>
                </a:solidFill>
                <a:latin typeface="Microsoft YaHei"/>
                <a:ea typeface="Microsoft YaHei"/>
              </a:rPr>
              <a:t>未知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277225" y="1885950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直接拒绝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，给两个按钮让用户自己选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571500" y="2581275"/>
            <a:ext cx="4000500" cy="131445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81050" y="27908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同音混淆卡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81050" y="307657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2E8F0"/>
                </a:solidFill>
                <a:latin typeface="Microsoft YaHei"/>
                <a:ea typeface="Microsoft YaHei"/>
              </a:rPr>
              <a:t>妈妈</a:t>
            </a:r>
            <a:r>
              <a:rPr lang="en-US" sz="16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E2E8F0"/>
                </a:solidFill>
                <a:latin typeface="Microsoft YaHei"/>
                <a:ea typeface="Microsoft YaHei"/>
              </a:rPr>
              <a:t>张桂芳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81050" y="3409950"/>
            <a:ext cx="3581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提示还有「妈玛」李梅，需用户二次确认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800600" y="2581275"/>
            <a:ext cx="6819900" cy="131445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029200" y="2924175"/>
            <a:ext cx="6362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另设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『卡号直转』通道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供本人手填，与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通道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物理隔离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——Agent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无权把任意卡号变成收款人。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71500" y="40862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解析不到就停下来问。「系统会猜」是攻击者最喜欢的东西。同音识别用同音表，不用编辑距离——避免误伤。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防线五 · 审计哈希链&lt;/Text&gt;&#10;  &lt;/Box&gt;&#10;  &lt;Box style={{ width: '100%', height: 1, background: '#334155', marginBottom: 22 }} /&gt;&#10;  &lt;Box style={{ background: '#0B1120', border: '1px solid #334155', borderRadius: 12, padding: '18px 24px', marginBottom: 22 }}&gt;&#10;    &lt;Text style={{ fontSize: 18, color: '#A5B4FC', fontFamily: 'Consolas, monospace', lineHeight: 1.7 }}&gt;&#10;      hash = HMAC(prev_hash ‖ payload)&lt;br/&gt;&#10;      任何一条被改 → &lt;Text style={{ color: '#F87171', fontWeight: 'bold' }}&gt;断点处立即检出&lt;/Text&gt;&#10;    &lt;/Text&gt;&#10;  &lt;/Box&gt;&#10;  &lt;Box style={{ flexDirection: 'row', alignItems: 'center', gap: 12, marginBottom: 24 }}&gt;&#10;    {['h₀', 'h₁', 'h₂'].map((h, i) =&gt; (&#10;      &lt;Box key={i} style={{ flexDirection: 'row', alignItems: 'center', gap: 12 }}&gt;&#10;        &lt;Box style={{ width: 150, height: 64, background: '#1E293B', border: '1px solid #6366F1', borderRadius: 10, justifyContent: 'center', alignItems: 'center' }}&gt;&#10;          &lt;Text style={{ fontSize: 22, fontWeight: 'bold', color: '#A5B4FC', fontFamily: 'Consolas, monospace' }}&gt;{h}&lt;/Text&gt;&#10;        &lt;/Box&gt;&#10;        &lt;FAIcon name='arrow-right' style={{ fill: '#6366F1', width: 22, height: 22 }} /&gt;&#10;      &lt;/Box&gt;&#10;    ))}&#10;    &lt;Box style={{ width: 170, height: 64, background: '#450A0A', border: '1px solid #EF4444', borderRadius: 10, justifyContent: 'center', alignItems: 'center' }}&gt;&#10;      &lt;Text style={{ fontSize: 18, fontWeight: 'bold', color: '#F87171' }}&gt;篡改 → 断点&lt;/Text&gt;&#10;    &lt;/Box&gt;&#10;  &lt;/Box&gt;&#10;  &lt;Box style={{ background: '#1E293B', borderLeft: '4px solid #6366F1', borderRadius: 8, padding: '18px 24px' }}&gt;&#10;    &lt;Text style={{ fontSize: 16, color: '#CBD5E1', lineHeight: 1.6 }}&gt;&#10;      &lt;Text style={{ color: '#A5B4FC', fontWeight: 'bold' }}&gt;真实故事：&lt;/Text&gt;日志超 2000 条触发分级保留，裁剪后 id 跳号，链校验报「链接断裂」；原注释写着「允许这种情况」，&lt;Text style={{ color: '#F87171', fontWeight: 'bold' }}&gt;但实现里没有这个逻辑&lt;/Text&gt;。修复：裁剪后重封链 + 启动自检，留痕 audit.reseal，不掩盖。&#10;    &lt;/Text&gt;&#10;  &lt;/Box&gt;&#10;  &lt;Text style={{ fontSize: 15, color: '#64748B', marginTop: 18 }}&gt;安全驾驶舱「审计链校验：连续完整（1,400+ 条）」——我们不是在演示顺利路径，而是真的在测自己的东西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0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防线五</a:t>
            </a: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审计哈希链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571500" y="1371600"/>
            <a:ext cx="11049000" cy="1047750"/>
          </a:xfrm>
          <a:prstGeom prst="roundRect">
            <a:avLst>
              <a:gd name="adj" fmla="val 10909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00100" y="1543050"/>
            <a:ext cx="105918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>hash = HMAC(prev_hash ‖ payload)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任何一条被改</a:t>
            </a:r>
            <a:r>
              <a:rPr lang="en-US" sz="1350">
                <a:solidFill>
                  <a:srgbClr val="A5B4FC"/>
                </a:solidFill>
                <a:latin typeface="Consolas"/>
                <a:ea typeface="Consolas"/>
              </a:rPr>
              <a:t xml:space="preserve"> → </a:t>
            </a:r>
            <a:r>
              <a:rPr lang="zh-CN" sz="1350">
                <a:solidFill>
                  <a:srgbClr val="A5B4FC"/>
                </a:solidFill>
                <a:latin typeface="Consolas"/>
                <a:ea typeface="Consolas"/>
              </a:rPr>
              <a:t>断点处立即检出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71500" y="2628900"/>
            <a:ext cx="1428750" cy="60960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71575" y="28098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A5B4FC"/>
                </a:solidFill>
                <a:latin typeface="Consolas"/>
                <a:ea typeface="Consolas"/>
              </a:rPr>
              <a:t>h₀</a:t>
            </a:r>
            <a:endParaRPr/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114550" y="2828925"/>
            <a:ext cx="209550" cy="20955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2438400" y="2628900"/>
            <a:ext cx="1428750" cy="60960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038475" y="28098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A5B4FC"/>
                </a:solidFill>
                <a:latin typeface="Consolas"/>
                <a:ea typeface="Consolas"/>
              </a:rPr>
              <a:t>h₁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81450" y="2828925"/>
            <a:ext cx="209550" cy="209550"/>
          </a:xfrm>
          <a:prstGeom prst="rect">
            <a:avLst/>
          </a:prstGeom>
          <a:ln/>
        </p:spPr>
      </p:pic>
      <p:sp>
        <p:nvSpPr>
          <p:cNvPr id="23" name=""/>
          <p:cNvSpPr/>
          <p:nvPr/>
        </p:nvSpPr>
        <p:spPr>
          <a:xfrm rot="0" flipH="0" flipV="0">
            <a:off x="4305300" y="2628900"/>
            <a:ext cx="1428750" cy="60960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905375" y="28098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A5B4FC"/>
                </a:solidFill>
                <a:latin typeface="Consolas"/>
                <a:ea typeface="Consolas"/>
              </a:rPr>
              <a:t>h₂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48350" y="2828925"/>
            <a:ext cx="209550" cy="20955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6172200" y="2628900"/>
            <a:ext cx="1619250" cy="609600"/>
          </a:xfrm>
          <a:prstGeom prst="roundRect">
            <a:avLst>
              <a:gd name="adj" fmla="val 15625"/>
            </a:avLst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505575" y="2828925"/>
            <a:ext cx="96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7171"/>
                </a:solidFill>
                <a:latin typeface="Microsoft YaHei"/>
                <a:ea typeface="Microsoft YaHei"/>
              </a:rPr>
              <a:t>篡改</a:t>
            </a:r>
            <a:r>
              <a:rPr lang="en-US" sz="1350" b="1">
                <a:solidFill>
                  <a:srgbClr val="F8717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F87171"/>
                </a:solidFill>
                <a:latin typeface="Microsoft YaHei"/>
                <a:ea typeface="Microsoft YaHei"/>
              </a:rPr>
              <a:t>断点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3467100"/>
            <a:ext cx="11049000" cy="933450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" y="3467100"/>
            <a:ext cx="11049000" cy="933450"/>
          </a:xfrm>
          <a:custGeom>
            <a:pathLst>
              <a:path w="1160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3638550"/>
            <a:ext cx="10553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真实故事：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日志超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2000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条触发分级保留，裁剪后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跳号，链校验报「链接断裂」；原注释写着「允许这种情况」，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但实现里没有这个逻辑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。修复：裁剪后重封链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启动自检，留痕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audit.reseal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，不掩盖。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45720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安全驾驶舱「审计链校验：连续完整（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1,400+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条）」——我们不是在演示顺利路径，而是真的在测自己的东西。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六大场景（总览一页）&lt;/Text&gt;&#10;  &lt;/Box&gt;&#10;  &lt;Box style={{ width: '100%', height: 1, background: '#334155', marginBottom: 22 }} /&gt;&#10;  &lt;Box style={{ gap: 20 }}&gt;&#10;    &lt;Box style={{ flexDirection: 'row', gap: 20 }}&gt;&#10;      {[&#10;        { s: 'S1', t: '对话', h: '双通道 + 时间归一化', c: 'TC-01' },&#10;        { s: 'S2', t: '账单', h: '下钻 + 不拿支出糊弄收入', c: 'TC-02' },&#10;        { s: 'S3', t: '订阅', h: '从账单挖出持续性扣费', c: 'TC-03' },&#10;      ].map((it, i) =&gt; (&#10;        &lt;Box key={i} style={{ flex: 1, background: '#1E293B', border: '1px solid #334155', borderRadius: 12, padding: '18px 22px' }}&gt;&#10;          &lt;Box style={{ flexDirection: 'row', alignItems: 'center', justifyContent: 'space-between', marginBottom: 10 }}&gt;&#10;            &lt;Box style={{ background: '#6366F1', borderRadius: 8, padding: '4px 12px' }}&gt;&lt;Text style={{ fontSize: 16, fontWeight: 'bold', color: '#FFFFFF' }}&gt;{it.s} {it.t}&lt;/Text&gt;&lt;/Box&gt;&#10;            &lt;Text style={{ fontSize: 13, color: '#64748B' }}&gt;{it.c}&lt;/Text&gt;&#10;          &lt;/Box&gt;&#10;          &lt;Text style={{ fontSize: 17, color: '#CBD5E1', lineHeight: 1.5 }}&gt;{it.h}&lt;/Text&gt;&#10;        &lt;/Box&gt;&#10;      ))}&#10;    &lt;/Box&gt;&#10;    &lt;Box style={{ flexDirection: 'row', gap: 20 }}&gt;&#10;      {[&#10;        { s: 'S4', t: '卡片', h: '挂失给出代扣迁移方案', c: 'TC-04' },&#10;        { s: 'S5', t: '理财', h: '会话内测评，不踢回页面', c: 'TC-05' },&#10;        { s: 'S6', t: '跨场景', h: '六步状态机可逆', c: 'TC-06' },&#10;      ].map((it, i) =&gt; (&#10;        &lt;Box key={i} style={{ flex: 1, background: '#1E293B', border: '1px solid #334155', borderRadius: 12, padding: '18px 22px' }}&gt;&#10;          &lt;Box style={{ flexDirection: 'row', alignItems: 'center', justifyContent: 'space-between', marginBottom: 10 }}&gt;&#10;            &lt;Box style={{ background: '#6366F1', borderRadius: 8, padding: '4px 12px' }}&gt;&lt;Text style={{ fontSize: 16, fontWeight: 'bold', color: '#FFFFFF' }}&gt;{it.s} {it.t}&lt;/Text&gt;&lt;/Box&gt;&#10;            &lt;Text style={{ fontSize: 13, color: '#64748B' }}&gt;{it.c}&lt;/Text&gt;&#10;          &lt;/Box&gt;&#10;          &lt;Text style={{ fontSize: 17, color: '#CBD5E1', lineHeight: 1.5 }}&gt;{it.h}&lt;/Text&gt;&#10;        &lt;/Box&gt;&#10;      ))}&#10;    &lt;/Box&gt;&#10;  &lt;/Box&gt;&#10;  &lt;Text style={{ fontSize: 15, color: '#64748B', marginTop: 22 }}&gt;S3 是真实痛点（订阅黑洞），S6 是题眼（跨场景可逆状态机）——其余场景均通过同一套纵深防线承接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六大场景（总览一页）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571500" y="1371600"/>
            <a:ext cx="3552825" cy="1000125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781050" y="1543050"/>
            <a:ext cx="771525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95350" y="1581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S1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对话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562350" y="16002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TC-01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1905000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双通道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时间归一化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314825" y="1371600"/>
            <a:ext cx="3562350" cy="1000125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4524375" y="1543050"/>
            <a:ext cx="771525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638675" y="1581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S2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账单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315200" y="16002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TC-02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524375" y="1905000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下钻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不拿支出糊弄收入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067675" y="1371600"/>
            <a:ext cx="3552825" cy="1000125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8277225" y="1543050"/>
            <a:ext cx="771525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391525" y="15811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S3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订阅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58525" y="1600200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TC-03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277225" y="1905000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从账单挖出持续性扣费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2562225"/>
            <a:ext cx="3552825" cy="1000125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781050" y="2733675"/>
            <a:ext cx="771525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95350" y="2771775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S4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卡片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562350" y="2790825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TC-04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81050" y="3095625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挂失给出代扣迁移方案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314825" y="2562225"/>
            <a:ext cx="3562350" cy="1000125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524375" y="2733675"/>
            <a:ext cx="771525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638675" y="2771775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S5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理财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315200" y="2790825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TC-05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524375" y="3095625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会话内测评，不踢回页面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8067675" y="2562225"/>
            <a:ext cx="3552825" cy="1000125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8277225" y="2733675"/>
            <a:ext cx="923925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91525" y="2771775"/>
            <a:ext cx="69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S6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跨场景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058525" y="2790825"/>
            <a:ext cx="35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TC-06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77225" y="3095625"/>
            <a:ext cx="3133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六步状态机可逆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37719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S3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是真实痛点（订阅黑洞），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S6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是题眼（跨场景可逆状态机）——其余场景均通过同一套纵深防线承接。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S3 订阅黑洞：识别规则必须够硬&lt;/Text&gt;&#10;  &lt;/Box&gt;&#10;  &lt;Box style={{ width: '100%', height: 1, background: '#334155', marginBottom: 24 }} /&gt;&#10;  &lt;Box style={{ flexDirection: 'row', gap: 28, marginBottom: 24 }}&gt;&#10;    &lt;Box style={{ flex: 1, background: '#1E293B', border: '1px solid #334155', borderRadius: 12, padding: 24 }}&gt;&#10;      &lt;Text style={{ fontSize: 18, color: '#64748B', marginBottom: 16 }}&gt;三个真实订阅&lt;/Text&gt;&#10;      {[&#10;        { n: '云盘', p: '¥9' },&#10;        { n: '视频', p: '¥25' },&#10;        { n: '音乐', p: '¥15' },&#10;      ].map((it, i) =&gt; (&#10;        &lt;Box key={i} style={{ flexDirection: 'row', justifyContent: 'space-between', alignItems: 'center', padding: '12px 16px', background: '#0B1120', borderRadius: 10, marginBottom: 10 }}&gt;&#10;          &lt;Text style={{ fontSize: 18, color: '#E2E8F0' }}&gt;{it.n}&lt;/Text&gt;&#10;          &lt;Text style={{ fontSize: 20, fontWeight: 'bold', color: '#A5B4FC' }}&gt;{it.p}&lt;/Text&gt;&#10;        &lt;/Box&gt;&#10;      ))}&#10;    &lt;/Box&gt;&#10;    &lt;Box style={{ flex: 1, background: '#1E293B', border: '1px solid #6366F1', borderRadius: 12, padding: 24 }}&gt;&#10;      &lt;Text style={{ fontSize: 18, color: '#A5B4FC', marginBottom: 16 }}&gt;识别条件（必须同时成立）&lt;/Text&gt;&#10;      &lt;Box style={{ gap: 14 }}&gt;&#10;        &lt;Text style={{ fontSize: 18, color: '#CBD5E1', lineHeight: 1.5 }}&gt;· 同商户&lt;/Text&gt;&#10;        &lt;Text style={{ fontSize: 18, color: '#CBD5E1', lineHeight: 1.5 }}&gt;· 金额误差 &lt;Text style={{ color: '#A5B4FC', fontWeight: 'bold' }}&gt;±1%&lt;/Text&gt;&lt;/Text&gt;&#10;        &lt;Text style={{ fontSize: 18, color: '#CBD5E1', lineHeight: 1.5 }}&gt;· 至少两段间隔落在同一周期&lt;/Text&gt;&#10;        &lt;Text style={{ fontSize: 18, color: '#94A3B8', lineHeight: 1.5 }}&gt;排除：电商 / 外卖 / 商超&lt;/Text&gt;&#10;      &lt;/Box&gt;&#10;    &lt;/Box&gt;&#10;  &lt;/Box&gt;&#10;  &lt;Box style={{ background: '#450A0A', border: '1px solid #EF4444', borderRadius: 12, padding: '16px 22px' }}&gt;&#10;    &lt;Text style={{ fontSize: 17, color: '#FECACA', lineHeight: 1.5 }}&gt;&#10;      &lt;Text style={{ color: '#F87171', fontWeight: 'bold' }}&gt;踩坑对比：&lt;/Text&gt;第一版把「淘宝每周 ¥558」识别成订阅——&lt;Text style={{ color: '#F87171', fontWeight: 'bold' }}&gt;周期性消费 ≠ 订阅&lt;/Text&gt;。放宽阈值能识别更多，但全是误报。&#10;    &lt;/Text&gt;&#10;  &lt;/Box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44291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S3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订阅黑洞：识别规则必须够硬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571500" y="1390650"/>
            <a:ext cx="539115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00100" y="1619250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三个真实订阅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00100" y="1981200"/>
            <a:ext cx="4933950" cy="457200"/>
          </a:xfrm>
          <a:prstGeom prst="roundRect">
            <a:avLst>
              <a:gd name="adj" fmla="val 20833"/>
            </a:avLst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52500" y="21050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云盘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343525" y="20955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5B4FC"/>
                </a:solidFill>
                <a:latin typeface="Microsoft YaHei"/>
                <a:ea typeface="Microsoft YaHei"/>
              </a:rPr>
              <a:t>¥9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00100" y="2533650"/>
            <a:ext cx="4933950" cy="457200"/>
          </a:xfrm>
          <a:prstGeom prst="roundRect">
            <a:avLst>
              <a:gd name="adj" fmla="val 20833"/>
            </a:avLst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52500" y="26574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视频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219700" y="2647950"/>
            <a:ext cx="36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5B4FC"/>
                </a:solidFill>
                <a:latin typeface="Microsoft YaHei"/>
                <a:ea typeface="Microsoft YaHei"/>
              </a:rPr>
              <a:t>¥25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00100" y="3086100"/>
            <a:ext cx="4933950" cy="457200"/>
          </a:xfrm>
          <a:prstGeom prst="roundRect">
            <a:avLst>
              <a:gd name="adj" fmla="val 20833"/>
            </a:avLst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52500" y="3209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音乐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219700" y="3200400"/>
            <a:ext cx="36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5B4FC"/>
                </a:solidFill>
                <a:latin typeface="Microsoft YaHei"/>
                <a:ea typeface="Microsoft YaHei"/>
              </a:rPr>
              <a:t>¥15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229350" y="1390650"/>
            <a:ext cx="539115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457950" y="1619250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5B4FC"/>
                </a:solidFill>
                <a:latin typeface="Microsoft YaHei"/>
                <a:ea typeface="Microsoft YaHei"/>
              </a:rPr>
              <a:t>识别条件（必须同时成立）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457950" y="1981200"/>
            <a:ext cx="4933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同商户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457950" y="2428875"/>
            <a:ext cx="4933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金额误差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>±1%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457950" y="2876550"/>
            <a:ext cx="4933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至少两段间隔落在同一周期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457950" y="3324225"/>
            <a:ext cx="4933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排除：电商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外卖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商超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71500" y="4095750"/>
            <a:ext cx="11049000" cy="600075"/>
          </a:xfrm>
          <a:prstGeom prst="roundRect">
            <a:avLst>
              <a:gd name="adj" fmla="val 19048"/>
            </a:avLst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81050" y="4248150"/>
            <a:ext cx="106299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ECACA"/>
                </a:solidFill>
                <a:latin typeface="Microsoft YaHei"/>
                <a:ea typeface="Microsoft YaHei"/>
              </a:rPr>
              <a:t>踩坑对比：</a:t>
            </a:r>
            <a:r>
              <a:rPr lang="zh-CN" sz="1275">
                <a:solidFill>
                  <a:srgbClr val="FECACA"/>
                </a:solidFill>
                <a:latin typeface="Microsoft YaHei"/>
                <a:ea typeface="Microsoft YaHei"/>
              </a:rPr>
              <a:t>第一版把「淘宝每周</a:t>
            </a:r>
            <a:r>
              <a:rPr lang="en-US" sz="1275">
                <a:solidFill>
                  <a:srgbClr val="FECACA"/>
                </a:solidFill>
                <a:latin typeface="Microsoft YaHei"/>
                <a:ea typeface="Microsoft YaHei"/>
              </a:rPr>
              <a:t xml:space="preserve"> ¥558</a:t>
            </a:r>
            <a:r>
              <a:rPr lang="zh-CN" sz="1275">
                <a:solidFill>
                  <a:srgbClr val="FECACA"/>
                </a:solidFill>
                <a:latin typeface="Microsoft YaHei"/>
                <a:ea typeface="Microsoft YaHei"/>
              </a:rPr>
              <a:t>」识别成订阅——</a:t>
            </a:r>
            <a:r>
              <a:rPr lang="zh-CN" sz="1275">
                <a:solidFill>
                  <a:srgbClr val="FECACA"/>
                </a:solidFill>
                <a:latin typeface="Microsoft YaHei"/>
                <a:ea typeface="Microsoft YaHei"/>
              </a:rPr>
              <a:t>周期性消费</a:t>
            </a:r>
            <a:r>
              <a:rPr lang="en-US" sz="1275">
                <a:solidFill>
                  <a:srgbClr val="FECACA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75">
                <a:solidFill>
                  <a:srgbClr val="FECACA"/>
                </a:solidFill>
                <a:latin typeface="Microsoft YaHei"/>
                <a:ea typeface="Microsoft YaHei"/>
              </a:rPr>
              <a:t>订阅</a:t>
            </a:r>
            <a:r>
              <a:rPr lang="zh-CN" sz="1275">
                <a:solidFill>
                  <a:srgbClr val="FECACA"/>
                </a:solidFill>
                <a:latin typeface="Microsoft YaHei"/>
                <a:ea typeface="Microsoft YaHei"/>
              </a:rPr>
              <a:t>。放宽阈值能识别更多，但全是误报。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8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S6 跨场景：状态机不由模型编排&lt;/Text&gt;&#10;  &lt;/Box&gt;&#10;  &lt;Box style={{ width: '100%', height: 1, background: '#334155', marginBottom: 30 }} /&gt;&#10;  &lt;Box style={{ flexDirection: 'row', alignItems: 'center', justifyContent: 'space-between', marginBottom: 36 }}&gt;&#10;    {['记忆', '日历', '锁资(P2)', '下单', '通知', '回执'].map((s, i) =&gt; (&#10;      &lt;Box key={i} style={{ flexDirection: 'row', alignItems: 'center', gap: 10 }}&gt;&#10;        &lt;Box style={{ background: s === '锁资(P2)' ? '#6366F1' : '#1E293B', border: '1px solid', borderColor: s === '锁资(P2)' ? '#6366F1' : '#334155', borderRadius: 10, padding: '12px 16px' }}&gt;&#10;          &lt;Text style={{ fontSize: 17, fontWeight: 'bold', color: s === '锁资(P2)' ? '#FFFFFF' : (s === '回执' ? '#A5B4FC' : '#E2E8F0') }}&gt;{s}&lt;/Text&gt;&#10;        &lt;/Box&gt;&#10;        {i &lt; 5 &amp;&amp; &lt;FAIcon name='arrow-right' style={{ fill: '#6366F1', width: 22, height: 22 }} /&gt;}&#10;      &lt;/Box&gt;&#10;    ))}&#10;  &lt;/Box&gt;&#10;  &lt;Box style={{ flexDirection: 'row', gap: 20 }}&gt;&#10;    {[&#10;      { t: '顺序写死在代码', d: '模型只负责认出「用户要做这件事」' },&#10;      { t: '自带反操作', d: '逆序回滚即完整撤销' },&#10;      { t: '只发建议卡', d: '到点主动提醒，绝不静默下单' },&#10;    ].map((it, i) =&gt; (&#10;      &lt;Box key={i} style={{ flex: 1, background: '#1E293B', border: '1px solid #334155', borderRadius: 12, padding: '18px 22px' }}&gt;&#10;        &lt;Text style={{ fontSize: 19, fontWeight: 'bold', color: '#A5B4FC', marginBottom: 8 }}&gt;{it.t}&lt;/Text&gt;&#10;        &lt;Text style={{ fontSize: 16, color: '#CBD5E1', lineHeight: 1.5 }}&gt;{it.d}&lt;/Text&gt;&#10;      &lt;/Box&gt;&#10;    ))}&#10;  &lt;/Box&gt;&#10;  &lt;Text style={{ fontSize: 15, color: '#64748B', marginTop: 22 }}&gt;不让模型编排，避免「先下单后付钱」空转；可逆性必须是结构性的，撤销时才知道该退什么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44291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S6 </a:t>
            </a: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跨场景：状态机不由模型编排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571500" y="1447800"/>
            <a:ext cx="628650" cy="42862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23900" y="1562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95400" y="1562100"/>
            <a:ext cx="209550" cy="209550"/>
          </a:xfrm>
          <a:prstGeom prst="rect">
            <a:avLst/>
          </a:prstGeom>
          <a:ln/>
        </p:spPr>
      </p:pic>
      <p:sp>
        <p:nvSpPr>
          <p:cNvPr id="106" name=""/>
          <p:cNvSpPr/>
          <p:nvPr/>
        </p:nvSpPr>
        <p:spPr>
          <a:xfrm rot="0" flipH="0" flipV="0">
            <a:off x="2590800" y="1447800"/>
            <a:ext cx="628650" cy="42862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743200" y="1562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Microsoft YaHei"/>
                <a:ea typeface="Microsoft YaHei"/>
              </a:rPr>
              <a:t>日历</a:t>
            </a:r>
            <a:endParaRPr/>
          </a:p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314700" y="1562100"/>
            <a:ext cx="209550" cy="209550"/>
          </a:xfrm>
          <a:prstGeom prst="rect">
            <a:avLst/>
          </a:prstGeom>
          <a:ln/>
        </p:spPr>
      </p:pic>
      <p:sp>
        <p:nvSpPr>
          <p:cNvPr id="109" name=""/>
          <p:cNvSpPr/>
          <p:nvPr/>
        </p:nvSpPr>
        <p:spPr>
          <a:xfrm rot="0" flipH="0" flipV="0">
            <a:off x="4610100" y="1447800"/>
            <a:ext cx="962025" cy="428625"/>
          </a:xfrm>
          <a:prstGeom prst="roundRect">
            <a:avLst>
              <a:gd name="adj" fmla="val 2222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762500" y="1562100"/>
            <a:ext cx="657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锁资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(P2)</a:t>
            </a:r>
            <a:endParaRPr/>
          </a:p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667375" y="1562100"/>
            <a:ext cx="209550" cy="209550"/>
          </a:xfrm>
          <a:prstGeom prst="rect">
            <a:avLst/>
          </a:prstGeom>
          <a:ln/>
        </p:spPr>
      </p:pic>
      <p:sp>
        <p:nvSpPr>
          <p:cNvPr id="112" name=""/>
          <p:cNvSpPr/>
          <p:nvPr/>
        </p:nvSpPr>
        <p:spPr>
          <a:xfrm rot="0" flipH="0" flipV="0">
            <a:off x="6953250" y="1447800"/>
            <a:ext cx="628650" cy="42862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105650" y="1562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Microsoft YaHei"/>
                <a:ea typeface="Microsoft YaHei"/>
              </a:rPr>
              <a:t>下单</a:t>
            </a:r>
            <a:endParaRPr/>
          </a:p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77150" y="1562100"/>
            <a:ext cx="209550" cy="209550"/>
          </a:xfrm>
          <a:prstGeom prst="rect">
            <a:avLst/>
          </a:prstGeom>
          <a:ln/>
        </p:spPr>
      </p:pic>
      <p:sp>
        <p:nvSpPr>
          <p:cNvPr id="115" name=""/>
          <p:cNvSpPr/>
          <p:nvPr/>
        </p:nvSpPr>
        <p:spPr>
          <a:xfrm rot="0" flipH="0" flipV="0">
            <a:off x="8972550" y="1447800"/>
            <a:ext cx="628650" cy="42862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124950" y="1562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Microsoft YaHei"/>
                <a:ea typeface="Microsoft YaHei"/>
              </a:rPr>
              <a:t>通知</a:t>
            </a:r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96450" y="1562100"/>
            <a:ext cx="209550" cy="209550"/>
          </a:xfrm>
          <a:prstGeom prst="rect">
            <a:avLst/>
          </a:prstGeom>
          <a:ln/>
        </p:spPr>
      </p:pic>
      <p:sp>
        <p:nvSpPr>
          <p:cNvPr id="118" name=""/>
          <p:cNvSpPr/>
          <p:nvPr/>
        </p:nvSpPr>
        <p:spPr>
          <a:xfrm rot="0" flipH="0" flipV="0">
            <a:off x="10991850" y="1447800"/>
            <a:ext cx="628650" cy="42862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144250" y="1562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回执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2219325"/>
            <a:ext cx="3552825" cy="9144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2390775"/>
            <a:ext cx="3133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A5B4FC"/>
                </a:solidFill>
                <a:latin typeface="Microsoft YaHei"/>
                <a:ea typeface="Microsoft YaHei"/>
              </a:rPr>
              <a:t>顺序写死在代码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81050" y="2686050"/>
            <a:ext cx="31337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模型只负责认出「用户要做这件事」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314825" y="2219325"/>
            <a:ext cx="3562350" cy="9144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524375" y="2390775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A5B4FC"/>
                </a:solidFill>
                <a:latin typeface="Microsoft YaHei"/>
                <a:ea typeface="Microsoft YaHei"/>
              </a:rPr>
              <a:t>自带反操作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524375" y="268605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逆序回滚即完整撤销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067675" y="2219325"/>
            <a:ext cx="3552825" cy="9144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277225" y="2390775"/>
            <a:ext cx="3133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A5B4FC"/>
                </a:solidFill>
                <a:latin typeface="Microsoft YaHei"/>
                <a:ea typeface="Microsoft YaHei"/>
              </a:rPr>
              <a:t>只发建议卡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277225" y="2686050"/>
            <a:ext cx="31337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到点主动提醒，绝不静默下单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33432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不让模型编排，避免「先下单后付钱」空转；可逆性必须是结构性的，撤销时才知道该退什么。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上下文与自主性（技术深度页）&lt;/Text&gt;&#10;  &lt;/Box&gt;&#10;  &lt;Box style={{ width: '100%', height: 1, background: '#334155', marginBottom: 24 }} /&gt;&#10;  &lt;Box style={{ flexDirection: 'row', gap: 20, marginBottom: 26 }}&gt;&#10;    {[&#10;      { t: '会话槽位', d: '给妈妈转 → 追问金额 → 用户只回「100」即可继续' },&#10;      { t: '对象栈', d: '买它 / 取消它 → 落到具体对象；无上下文时不猜' },&#10;      { t: '长期记忆', d: '7 类白名单 + 类型校验；未存项明确承认，不编造' },&#10;    ].map((it, i) =&gt; (&#10;      &lt;Box key={i} style={{ flex: 1, background: '#1E293B', border: '1px solid #334155', borderRadius: 12, padding: '18px 22px' }}&gt;&#10;        &lt;Text style={{ fontSize: 20, fontWeight: 'bold', color: '#A5B4FC', marginBottom: 10 }}&gt;{it.t}&lt;/Text&gt;&#10;        &lt;Text style={{ fontSize: 16, color: '#CBD5E1', lineHeight: 1.5 }}&gt;{it.d}&lt;/Text&gt;&#10;      &lt;/Box&gt;&#10;    ))}&#10;  &lt;/Box&gt;&#10;  &lt;Box style={{ background: '#1E293B', borderLeft: '4px solid #6366F1', borderRadius: 8, padding: '18px 24px' }}&gt;&#10;    &lt;Text style={{ fontSize: 18, color: '#CBD5E1', lineHeight: 1.6 }}&gt;&#10;      为什么不把对话历史整个塞进 prompt？&lt;Text style={{ color: '#A5B4FC', fontWeight: 'bold' }}&gt;token 膨胀是小事&lt;/Text&gt;——真正的问题是历史里的攻击文本会成为新的注入面，且不可审计。该存「他说要转 100 给妈妈」，不是存「他说的那句话」。&#10;    &lt;/Text&gt;&#10;  &lt;/Box&gt;&#10;  &lt;Text style={{ fontSize: 15, color: '#64748B', marginTop: 18 }}&gt;没用 RAG：银行业务的答案是数据库里的数字，不是文档段落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4267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上下文与自主性（技术深度页）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571500" y="1390650"/>
            <a:ext cx="3552825" cy="12192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5B4FC"/>
                </a:solidFill>
                <a:latin typeface="Microsoft YaHei"/>
                <a:ea typeface="Microsoft YaHei"/>
              </a:rPr>
              <a:t>会话槽位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3133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给妈妈转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追问金额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用户只回「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100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」即可继续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314825" y="1390650"/>
            <a:ext cx="3562350" cy="12192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524375" y="15621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5B4FC"/>
                </a:solidFill>
                <a:latin typeface="Microsoft YaHei"/>
                <a:ea typeface="Microsoft YaHei"/>
              </a:rPr>
              <a:t>对象栈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24375" y="1885950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买它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取消它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落到具体对象；无上下文时不猜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67675" y="1390650"/>
            <a:ext cx="3552825" cy="12192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77225" y="1562100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5B4FC"/>
                </a:solidFill>
                <a:latin typeface="Microsoft YaHei"/>
                <a:ea typeface="Microsoft YaHei"/>
              </a:rPr>
              <a:t>长期记忆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277225" y="1885950"/>
            <a:ext cx="3133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类白名单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类型校验；未存项明确承认，不编造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2857500"/>
            <a:ext cx="11049000" cy="100965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09600" y="2857500"/>
            <a:ext cx="11049000" cy="1009650"/>
          </a:xfrm>
          <a:custGeom>
            <a:pathLst>
              <a:path w="1160" h="10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2"/>
                </a:lnTo>
                <a:cubicBezTo>
                  <a:pt x="4" y="104"/>
                  <a:pt x="5" y="106"/>
                  <a:pt x="7" y="106"/>
                </a:cubicBezTo>
                <a:cubicBezTo>
                  <a:pt x="3" y="106"/>
                  <a:pt x="0" y="102"/>
                  <a:pt x="0" y="9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38200" y="3028950"/>
            <a:ext cx="10553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为什么不把对话历史整个塞进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prompt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？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膨胀是小事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——真正的问题是历史里的攻击文本会成为新的注入面，且不可审计。该存「他说要转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给妈妈」，不是存「他说的那句话」。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71500" y="40386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没用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RAG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：银行业务的答案是数据库里的数字，不是文档段落。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实测数据（全部可复跑）&lt;/Text&gt;&#10;  &lt;/Box&gt;&#10;  &lt;Box style={{ width: '100%', height: 1, background: '#334155', marginBottom: 16 }} /&gt;&#10;  &lt;Box style={{ background: '#1E293B', border: '1px solid #334155', borderRadius: 12, overflow: 'hidden' }}&gt;&#10;    &lt;Box style={{ flexDirection: 'row', alignItems: 'center', padding: '14px 24px', background: '#0B1120' }}&gt;&#10;      &lt;Box style={{ width: 360 }}&gt;&lt;Text style={{ fontSize: 16, color: '#64748B', fontWeight: 'bold' }}&gt;套件&lt;/Text&gt;&lt;/Box&gt;&#10;      &lt;Box style={{ flex: 1 }}&gt;&lt;Text style={{ fontSize: 16, color: '#64748B', fontWeight: 'bold' }}&gt;结果&lt;/Text&gt;&lt;/Box&gt;&#10;    &lt;/Box&gt;&#10;    {[&#10;      { l: '注入攻击', r: '70/70 + 25/25 无误伤', hot: false },&#10;      { l: '安全加固', r: '28/28', hot: false },&#10;      { l: '并发竞态', r: '6/6（资金净变动 ¥0.00）', hot: false },&#10;      { l: '冒烟', r: '9/9', hot: false },&#10;      { l: '订阅+跨场景 / 挂失+自主 / 上下文 / 产品', r: '30 / 30 / 12 / 16', hot: false },&#10;      { l: '质量', r: 'D1 100% · D2 0%', hot: false },&#10;      { l: '综合核查', r: '37 PASS / 0 PARTIAL / 0 FAIL', hot: true },&#10;    ].map((it, i) =&gt; (&#10;      &lt;Box key={i}&gt;&#10;        &lt;Box style={{ flexDirection: 'row', alignItems: 'center', padding: '13px 24px', background: it.hot ? '#1E2A5E' : 'transparent' }}&gt;&#10;          &lt;Box style={{ width: 360 }}&gt;&lt;Text style={{ fontSize: 17, color: it.hot ? '#A5B4FC' : '#E2E8F0', fontWeight: it.hot ? 'bold' : 'normal' }}&gt;{it.l}&lt;/Text&gt;&lt;/Box&gt;&#10;          &lt;Box style={{ flex: 1 }}&gt;&lt;Text style={{ fontSize: 17, color: it.hot ? '#A5B4FC' : '#CBD5E1', fontWeight: it.hot ? 'bold' : 'normal' }}&gt;{it.r}&lt;/Text&gt;&lt;/Box&gt;&#10;        &lt;/Box&gt;&#10;        {i &lt; 6 &amp;&amp; &lt;Box style={{ width: '100%', height: 1, background: '#334155' }} /&gt;}&#10;      &lt;/Box&gt;&#10;    ))}&#10;  &lt;/Box&gt;&#10;  &lt;Text style={{ fontSize: 15, color: '#64748B', marginTop: 18 }}&gt;用例总量约 250 条（门槛 108）——这些数字不是手填的，是脚本跑出来的，仓库里可以复跑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实测数据（全部可复跑）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571500" y="1314450"/>
            <a:ext cx="11049000" cy="3648075"/>
          </a:xfrm>
          <a:prstGeom prst="roundRect">
            <a:avLst>
              <a:gd name="adj" fmla="val 31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71500" y="1314450"/>
            <a:ext cx="11049000" cy="457200"/>
          </a:xfrm>
          <a:custGeom>
            <a:pathLst>
              <a:path w="1160" h="48">
                <a:moveTo>
                  <a:pt x="1148" y="0"/>
                </a:moveTo>
                <a:cubicBezTo>
                  <a:pt x="1155" y="0"/>
                  <a:pt x="1160" y="5"/>
                  <a:pt x="1160" y="12"/>
                </a:cubicBezTo>
                <a:lnTo>
                  <a:pt x="1160" y="48"/>
                </a:lnTo>
                <a:lnTo>
                  <a:pt x="0" y="48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0B1120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套件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229100" y="1447800"/>
            <a:ext cx="716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注入攻击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229100" y="18954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70/70 + 25/25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无误伤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71500" y="22193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安全加固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229100" y="23526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>28/28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571500" y="2676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00100" y="28098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并发竞态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229100" y="28098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>6/6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（资金净变动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¥0.00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" y="31337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32670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冒烟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229100" y="32670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>9/9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35909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订阅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+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跨场景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挂失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+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自主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上下文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229100" y="37242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>30 / 30 / 12 / 16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71500" y="40481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0100" y="41814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质量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229100" y="41814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>D1 100% · D2 0%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71500" y="45053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571500" y="4514850"/>
            <a:ext cx="11049000" cy="447675"/>
          </a:xfrm>
          <a:custGeom>
            <a:pathLst>
              <a:path w="1160" h="47">
                <a:moveTo>
                  <a:pt x="1160" y="35"/>
                </a:moveTo>
                <a:cubicBezTo>
                  <a:pt x="1160" y="42"/>
                  <a:pt x="1155" y="47"/>
                  <a:pt x="1148" y="47"/>
                </a:cubicBezTo>
                <a:lnTo>
                  <a:pt x="12" y="47"/>
                </a:lnTo>
                <a:cubicBezTo>
                  <a:pt x="5" y="47"/>
                  <a:pt x="0" y="42"/>
                  <a:pt x="0" y="35"/>
                </a:cubicBezTo>
                <a:lnTo>
                  <a:pt x="0" y="0"/>
                </a:lnTo>
                <a:lnTo>
                  <a:pt x="1160" y="0"/>
                </a:lnTo>
                <a:close/>
              </a:path>
            </a:pathLst>
          </a:custGeom>
          <a:solidFill>
            <a:srgbClr val="1E2A5E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0100" y="46386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5B4FC"/>
                </a:solidFill>
                <a:latin typeface="Microsoft YaHei"/>
                <a:ea typeface="Microsoft YaHei"/>
              </a:rPr>
              <a:t>综合核查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229100" y="463867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5B4FC"/>
                </a:solidFill>
                <a:latin typeface="Microsoft YaHei"/>
                <a:ea typeface="Microsoft YaHei"/>
              </a:rPr>
              <a:t>37 PASS / 0 PARTIAL / 0 FAIL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513397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用例总量约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250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条（门槛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108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）——这些数字不是手填的，是脚本跑出来的，仓库里可以复跑。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5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诚实的部分：已知限制&lt;/Text&gt;&#10;  &lt;/Box&gt;&#10;  &lt;Box style={{ width: '100%', height: 1, background: '#334155', marginBottom: 16 }} /&gt;&#10;  &lt;Box style={{ background: '#1E293B', border: '1px solid #334155', borderRadius: 12, overflow: 'hidden' }}&gt;&#10;    &lt;Box style={{ flexDirection: 'row', alignItems: 'center', padding: '14px 24px', background: '#0B1120' }}&gt;&#10;      &lt;Box style={{ flex: 1 }}&gt;&lt;Text style={{ fontSize: 16, color: '#64748B', fontWeight: 'bold' }}&gt;限制&lt;/Text&gt;&lt;/Box&gt;&#10;      &lt;Box style={{ width: 380 }}&gt;&lt;Text style={{ fontSize: 16, color: '#64748B', fontWeight: 'bold' }}&gt;原因 / 取舍&lt;/Text&gt;&lt;/Box&gt;&#10;    &lt;/Box&gt;&#10;    {[&#10;      { l: '忘记支付密码已支持本人人脸 + 短信双因子重置（P3 本人通道，Agent 不可触达；非生产级仍须人工核验兜底）', r: '演示环境靠 reset，正式需人工核验' },&#10;      { l: '限速与锁在进程内', r: '单实例演示足够，多实例需 Redis' },&#10;      { l: '会话历史不落库', r: '刷新后只有草稿恢复，不是完整续接' },&#10;      { l: 'A6 生日惊喜偏演示性', r: '真实需求存疑，做它是为了题眼' },&#10;      { l: '无障碍与适老化未做', r: 'M1–M5 都假设用户能读卡片、能打字' },&#10;    ].map((it, i) =&gt; (&#10;      &lt;Box key={i}&gt;&#10;        &lt;Box style={{ flexDirection: 'row', alignItems: 'center', padding: '16px 24px' }}&gt;&#10;          &lt;Box style={{ flex: 1 }}&gt;&lt;Text style={{ fontSize: 17, color: '#E2E8F0', lineHeight: 1.5 }}&gt;{it.l}&lt;/Text&gt;&lt;/Box&gt;&#10;          &lt;Box style={{ width: 380 }}&gt;&lt;Text style={{ fontSize: 16, color: '#94A3B8', lineHeight: 1.5 }}&gt;{it.r}&lt;/Text&gt;&lt;/Box&gt;&#10;        &lt;/Box&gt;&#10;        {i &lt; 4 &amp;&amp; &lt;Box style={{ width: '100%', height: 1, background: '#334155' }} /&gt;}&#10;      &lt;/Box&gt;&#10;    ))}&#10;  &lt;/Box&gt;&#10;  &lt;Text style={{ fontSize: 15, color: '#64748B', marginTop: 18 }}&gt;说限制要给出「为什么这么取舍」，而不是「没来得及做」——前者是工程判断，后者是欠债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诚实的部分：已知限制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571500" y="1314450"/>
            <a:ext cx="11049000" cy="3790950"/>
          </a:xfrm>
          <a:prstGeom prst="roundRect">
            <a:avLst>
              <a:gd name="adj" fmla="val 3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571500" y="1314450"/>
            <a:ext cx="11049000" cy="457200"/>
          </a:xfrm>
          <a:custGeom>
            <a:pathLst>
              <a:path w="1160" h="48">
                <a:moveTo>
                  <a:pt x="1148" y="0"/>
                </a:moveTo>
                <a:cubicBezTo>
                  <a:pt x="1155" y="0"/>
                  <a:pt x="1160" y="5"/>
                  <a:pt x="1160" y="12"/>
                </a:cubicBezTo>
                <a:lnTo>
                  <a:pt x="1160" y="48"/>
                </a:lnTo>
                <a:lnTo>
                  <a:pt x="0" y="48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0B1120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限制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772400" y="144780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原因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取舍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697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忘记支付密码已支持本人人脸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短信双因子重置（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P3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本人通道，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不可触达；非生产级仍须人工核验兜底）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772400" y="2085975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演示环境靠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reset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，正式需人工核验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71500" y="26670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00100" y="28289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限速与锁在进程内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772400" y="28384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单实例演示足够，多实例需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Redis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71500" y="32766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00100" y="34385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会话历史不落库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772400" y="34480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刷新后只有草稿恢复，不是完整续接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71500" y="38862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A6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生日惊喜偏演示性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772400" y="40576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真实需求存疑，做它是为了题眼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71500" y="44958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00100" y="46577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无障碍与适老化未做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772400" y="46672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M1–M5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都假设用户能读卡片、能打字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71500" y="527685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说限制要给出「为什么这么取舍」，而不是「没来得及做」——前者是工程判断，后者是欠债。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诚实的部分：已知限制&lt;/Text&gt;&#10;  &lt;/Box&gt;&#10;  &lt;Box style={{ width: '100%', height: 1, background: '#334155', marginBottom: 16 }} /&gt;&#10;  &lt;Box style={{ background: '#1E293B', border: '1px solid #334155', borderRadius: 12, overflow: 'hidden' }}&gt;&#10;    &lt;Box style={{ flexDirection: 'row', alignItems: 'center', padding: '14px 24px', background: '#0B1120' }}&gt;&#10;      &lt;Box style={{ flex: 1 }}&gt;&lt;Text style={{ fontSize: 16, color: '#64748B', fontWeight: 'bold' }}&gt;限制&lt;/Text&gt;&lt;/Box&gt;&#10;      &lt;Box style={{ width: 380 }}&gt;&lt;Text style={{ fontSize: 16, color: '#64748B', fontWeight: 'bold' }}&gt;原因 / 取舍&lt;/Text&gt;&lt;/Box&gt;&#10;    &lt;/Box&gt;&#10;    {[&#10;      { l: '忘记支付密码已支持本人人脸 + 短信双因子重置（P3 本人通道，Agent 不可触达；非生产级仍须人工核验兜底）', r: '演示环境靠 reset，正式需人工核验' },&#10;      { l: '限速与锁在进程内', r: '单实例演示足够，多实例需 Redis' },&#10;      { l: '会话历史不落库', r: '刷新后只有草稿恢复，不是完整续接' },&#10;      { l: 'A6 生日惊喜偏演示性', r: '真实需求存疑，做它是为了题眼' },&#10;      { l: '无障碍与适老化未做', r: 'M1–M5 都假设用户能读卡片、能打字' },&#10;    ].map((it, i) =&gt; (&#10;      &lt;Box key={i}&gt;&#10;        &lt;Box style={{ flexDirection: 'row', alignItems: 'center', padding: '16px 24px' }}&gt;&#10;          &lt;Box style={{ flex: 1 }}&gt;&lt;Text style={{ fontSize: 17, color: '#E2E8F0', lineHeight: 1.5 }}&gt;{it.l}&lt;/Text&gt;&lt;/Box&gt;&#10;          &lt;Box style={{ width: 380 }}&gt;&lt;Text style={{ fontSize: 16, color: '#94A3B8', lineHeight: 1.5 }}&gt;{it.r}&lt;/Text&gt;&lt;/Box&gt;&#10;        &lt;/Box&gt;&#10;        {i &lt; 4 &amp;&amp; &lt;Box style={{ width: '100%', height: 1, background: '#334155' }} /&gt;}&#10;      &lt;/Box&gt;&#10;    ))}&#10;  &lt;/Box&gt;&#10;  &lt;Text style={{ fontSize: 15, color: '#64748B', marginTop: 18 }}&gt;说限制要给出「为什么这么取舍」，而不是「没来得及做」——前者是工程判断，后者是欠债。&lt;/Text&gt;&#10;  &lt;Box style={{ position: 'absolute', bottom: 26, left: 60 }}&gt;&#10;    &lt;Text style={{ fontSize: 14, color: '#475569' }}&gt;AgentBank · 智能体银行&lt;/Text&gt;&#10;  &lt;/Box&gt;&#10;  &lt;Box style={{ position: 'absolute', bottom: 26, right: 60 }}&gt;&#10;    &lt;Text style={{ fontSize: 14, color: '#475569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诚实的部分：已知限制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571500" y="1314450"/>
            <a:ext cx="11049000" cy="3790950"/>
          </a:xfrm>
          <a:prstGeom prst="roundRect">
            <a:avLst>
              <a:gd name="adj" fmla="val 3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571500" y="1314450"/>
            <a:ext cx="11049000" cy="457200"/>
          </a:xfrm>
          <a:custGeom>
            <a:pathLst>
              <a:path w="1160" h="48">
                <a:moveTo>
                  <a:pt x="1148" y="0"/>
                </a:moveTo>
                <a:cubicBezTo>
                  <a:pt x="1155" y="0"/>
                  <a:pt x="1160" y="5"/>
                  <a:pt x="1160" y="12"/>
                </a:cubicBezTo>
                <a:lnTo>
                  <a:pt x="1160" y="48"/>
                </a:lnTo>
                <a:lnTo>
                  <a:pt x="0" y="48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0B1120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限制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72400" y="144780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原因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取舍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697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忘记支付密码已支持本人人脸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短信双因子重置（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P3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本人通道，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不可触达；非生产级仍须人工核验兜底）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772400" y="2085975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演示环境靠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reset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，正式需人工核验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571500" y="26670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28289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限速与锁在进程内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772400" y="28384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单实例演示足够，多实例需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Redis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32766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00100" y="34385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会话历史不落库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772400" y="34480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刷新后只有草稿恢复，不是完整续接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38862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A6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生日惊喜偏演示性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772400" y="40576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真实需求存疑，做它是为了题眼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1500" y="4495800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0100" y="4657725"/>
            <a:ext cx="6972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无障碍与适老化未做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772400" y="46672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M1–M5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都假设用户能读卡片、能打字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71500" y="527685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说限制要给出「为什么这么取舍」，而不是「没来得及做」——前者是工程判断，后者是欠债。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163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37" name="" descr="&lt;Slide style={{ padding: 60, background: '#0F172A' }}&gt;&#10;  &lt;Box style={{ flexDirection: 'row', alignItems: 'center', gap: 12, marginBottom: 22 }}&gt;&#10;    &lt;Box style={{ width: 6, height: 28, background: '#6366F1', borderRadius: 3 }} /&gt;&#10;    &lt;Text style={{ fontSize: 32, fontWeight: 'bold', color: '#F1F5F9' }}&gt;交付形态&lt;/Text&gt;&#10;  &lt;/Box&gt;&#10;  &lt;Box style={{ width: '100%', height: 1, background: '#334155', marginBottom: 28 }} /&gt;&#10;  &lt;Box style={{ flexDirection: 'row', gap: 20, marginBottom: 30 }}&gt;&#10;    {[&#10;      { t: 'H5 完整', d: '6 个页面无白屏' },&#10;      { t: '安全驾驶舱', d: '真实数字非手填' },&#10;      { t: '投屏演示模式', d: '字号放大 3 米可读' },&#10;      { t: '黄金轨迹', d: '断网可回放 7 条', hot: true },&#10;    ].map((it, i) =&gt; (&#10;      &lt;Box key={i} style={{ flex: 1, background: it.hot ? '#1E2A5E' : '#1E293B', border: it.hot ? '1px solid #6366F1' : '1px solid #334155', borderRadius: 12, padding: '22px 24px' }}&gt;&#10;        &lt;Text style={{ fontSize: 22, fontWeight: 'bold', color: it.hot ? '#A5B4FC' : '#F1F5F9', marginBottom: 12 }}&gt;{it.t}&lt;/Text&gt;&#10;        &lt;Text style={{ fontSize: 17, color: '#CBD5E1', lineHeight: 1.5 }}&gt;{it.d}&lt;/Text&gt;&#10;      &lt;/Box&gt;&#10;    ))}&#10;  &lt;/Box&gt;&#10;  &lt;Text style={{ fontSize: 18, color: '#CBD5E1' }}&gt;&#10;    黄金轨迹是给答辩兜底的——现场断网、模型挂了、演示数据被测试打乱，切过去 3 秒内能继续讲。&#10;  &lt;/Text&gt;&#10;  &lt;Box style={{ position: 'absolute', bottom: 26, right: 60 }}&gt;&#10;    &lt;Text style={{ fontSize: 15, color: '#A5B4FC', fontFamily: 'Consolas, monospace' }}&gt;node server.js 即可跑，无需 npm install&lt;/Text&gt;&#10;  &lt;/Box&gt;&#10;  &lt;Box style={{ position: 'absolute', bottom: 26, left: 60 }}&gt;&#10;    &lt;Text style={{ fontSize: 14, color: '#475569' }}&gt;AgentBank · 智能体银行&lt;/Text&gt;&#10;  &lt;/Box&gt;&#10;  &lt;Box style={{ position: 'absolute', bottom: 26, right: 100 }}&gt;&#10;    &lt;Text style={{ fontSize: 14, color: '#475569' }}&gt;1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571500" y="6286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42950" y="571500"/>
            <a:ext cx="1219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1F5F9"/>
                </a:solidFill>
                <a:latin typeface="Microsoft YaHei"/>
                <a:ea typeface="Microsoft YaHei"/>
              </a:rPr>
              <a:t>交付形态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71500" y="1152525"/>
            <a:ext cx="11049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571500" y="1428750"/>
            <a:ext cx="2619375" cy="108585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00100" y="1638300"/>
            <a:ext cx="2162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00100" y="2009775"/>
            <a:ext cx="21621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个页面无白屏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3381375" y="1428750"/>
            <a:ext cx="2619375" cy="108585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609975" y="1638300"/>
            <a:ext cx="2162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安全驾驶舱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609975" y="2009775"/>
            <a:ext cx="21621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真实数字非手填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191250" y="1428750"/>
            <a:ext cx="2619375" cy="108585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419850" y="1638300"/>
            <a:ext cx="2162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投屏演示模式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419850" y="2009775"/>
            <a:ext cx="21621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字号放大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米可读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9001125" y="1428750"/>
            <a:ext cx="2619375" cy="1085850"/>
          </a:xfrm>
          <a:prstGeom prst="roundRect">
            <a:avLst>
              <a:gd name="adj" fmla="val 10526"/>
            </a:avLst>
          </a:prstGeom>
          <a:solidFill>
            <a:srgbClr val="1E2A5E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229725" y="1638300"/>
            <a:ext cx="2162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5B4FC"/>
                </a:solidFill>
                <a:latin typeface="Microsoft YaHei"/>
                <a:ea typeface="Microsoft YaHei"/>
              </a:rPr>
              <a:t>黄金轨迹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229725" y="2009775"/>
            <a:ext cx="21621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断网可回放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71500" y="2800350"/>
            <a:ext cx="1104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黄金轨迹是给答辩兜底的——现场断网、模型挂了、演示数据被测试打乱，切过去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秒内能继续讲。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639175" y="6438900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5B4FC"/>
                </a:solidFill>
                <a:latin typeface="Consolas"/>
                <a:ea typeface="Consolas"/>
              </a:rPr>
              <a:t xml:space="preserve">node server.js </a:t>
            </a:r>
            <a:r>
              <a:rPr lang="zh-CN" sz="1125">
                <a:solidFill>
                  <a:srgbClr val="A5B4FC"/>
                </a:solidFill>
                <a:latin typeface="Consolas"/>
                <a:ea typeface="Consolas"/>
              </a:rPr>
              <a:t>即可跑，无需</a:t>
            </a:r>
            <a:r>
              <a:rPr lang="en-US" sz="1125">
                <a:solidFill>
                  <a:srgbClr val="A5B4FC"/>
                </a:solidFill>
                <a:latin typeface="Consolas"/>
                <a:ea typeface="Consolas"/>
              </a:rPr>
              <a:t xml:space="preserve"> npm install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71500" y="64484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AgentBank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智能体银行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7823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8" name="" descr="&lt;Slide style={{ padding: 60, background: '#0F172A', justifyContent: 'center' }}&gt;&#10;  &lt;Box style={{ gap: 26, marginBottom: 48 }}&gt;&#10;    &lt;Text style={{ fontSize: 34, fontWeight: 'bold', color: '#F1F5F9', lineHeight: 1.3 }}&gt;&#10;      权限做成结构 &lt;Text style={{ color: '#A5B4FC' }}&gt;→ P0–P3，高危动作永久无权&lt;/Text&gt;&#10;    &lt;/Text&gt;&#10;    &lt;Text style={{ fontSize: 34, fontWeight: 'bold', color: '#F1F5F9', lineHeight: 1.3 }}&gt;&#10;      确认做成数学 &lt;Text style={{ color: '#A5B4FC' }}&gt;→ HMAC 指纹，改不了&lt;/Text&gt;&#10;    &lt;/Text&gt;&#10;    &lt;Text style={{ fontSize: 34, fontWeight: 'bold', color: '#F1F5F9', lineHeight: 1.3 }}&gt;&#10;      攻击做成回归 &lt;Text style={{ color: '#A5B4FC' }}&gt;→ 70 条用例，每次合并必须全绿&lt;/Text&gt;&#10;    &lt;/Text&gt;&#10;  &lt;/Box&gt;&#10;  &lt;Box style={{ width: 120, height: 4, background: '#6366F1', borderRadius: 2, marginBottom: 28 }} /&gt;&#10;  &lt;Text style={{ fontSize: 30, color: '#CBD5E1' }}&gt;&#10;    智能体可以很能干，但它 &lt;Text style={{ color: '#A5B4FC', fontWeight: 'bold' }}&gt;永远只是申请人，不是执行人&lt;/Text&gt;。&#10;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71500" y="1857375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权限做成结构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→ P0–P3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，高危动作永久无权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71500" y="2619375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确认做成数学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→ HMAC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指纹，改不了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1500" y="3381375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攻击做成回归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→ 70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条用例，每次合并必须全绿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71500" y="435292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4657725"/>
            <a:ext cx="1104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CBD5E1"/>
                </a:solidFill>
                <a:latin typeface="Microsoft YaHei"/>
                <a:ea typeface="Microsoft YaHei"/>
              </a:rPr>
              <a:t>智能体可以很能干，但它</a:t>
            </a:r>
            <a:r>
              <a:rPr lang="en-US" sz="2250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250">
                <a:solidFill>
                  <a:srgbClr val="CBD5E1"/>
                </a:solidFill>
                <a:latin typeface="Microsoft YaHei"/>
                <a:ea typeface="Microsoft YaHei"/>
              </a:rPr>
              <a:t>永远只是申请人，不是执行人</a:t>
            </a:r>
            <a:r>
              <a:rPr lang="zh-CN" sz="2250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2026-10-28T17:46:53Z</dcterms:created>
  <dcterms:modified xsi:type="dcterms:W3CDTF">2026-10-28T17:46:53Z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{"AIGC":{"Label":"1","ContentProducer":"00119111010856365494821B355","ProduceID":"ceee0e65a9454cf4a135cf61585ec6b9","ReservedCode1":"","ContentPropagator":"00119111010856365494821B355","PropagateID":"ceee0e65a9454cf4a135cf61585ec6b9","ReservedCode2":""}}</vt:lpwstr>
  </property>
</Properties>
</file>